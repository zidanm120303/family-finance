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9b35890c694127" /><Relationship Type="http://schemas.openxmlformats.org/officeDocument/2006/relationships/extended-properties" Target="/docProps/app.xml" Id="Rd28902831f314d91" /><Relationship Type="http://schemas.openxmlformats.org/officeDocument/2006/relationships/officeDocument" Target="/ppt/presentation.xml" Id="R313a2491915e42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6c7daf96d44c03"/>
  </p:sldMasterIdLst>
  <p:notesMasterIdLst>
    <p:notesMasterId xmlns:r="http://schemas.openxmlformats.org/officeDocument/2006/relationships" r:id="R7d639f7686b149c2"/>
  </p:notesMasterIdLst>
  <p:sldIdLst>
    <p:sldId xmlns:r="http://schemas.openxmlformats.org/officeDocument/2006/relationships" id="256" r:id="Rfc7935fda9904b8f"/>
    <p:sldId xmlns:r="http://schemas.openxmlformats.org/officeDocument/2006/relationships" id="257" r:id="R050600a0a3134255"/>
    <p:sldId xmlns:r="http://schemas.openxmlformats.org/officeDocument/2006/relationships" id="258" r:id="Rba98e32d2ded4410"/>
    <p:sldId xmlns:r="http://schemas.openxmlformats.org/officeDocument/2006/relationships" id="259" r:id="R6b40cc1bef9e464c"/>
    <p:sldId xmlns:r="http://schemas.openxmlformats.org/officeDocument/2006/relationships" id="260" r:id="Rd263ae38912a40a9"/>
    <p:sldId xmlns:r="http://schemas.openxmlformats.org/officeDocument/2006/relationships" id="261" r:id="R0af6bd9371bc418a"/>
    <p:sldId xmlns:r="http://schemas.openxmlformats.org/officeDocument/2006/relationships" id="262" r:id="Ra7f8dfc1a2494aba"/>
    <p:sldId xmlns:r="http://schemas.openxmlformats.org/officeDocument/2006/relationships" id="263" r:id="R73237cf1adb741b4"/>
    <p:sldId xmlns:r="http://schemas.openxmlformats.org/officeDocument/2006/relationships" id="264" r:id="R4e905fff039f441f"/>
    <p:sldId xmlns:r="http://schemas.openxmlformats.org/officeDocument/2006/relationships" id="265" r:id="R910113d80cc94521"/>
    <p:sldId xmlns:r="http://schemas.openxmlformats.org/officeDocument/2006/relationships" id="266" r:id="Rc78e60a699164648"/>
    <p:sldId xmlns:r="http://schemas.openxmlformats.org/officeDocument/2006/relationships" id="267" r:id="R104cdfee999845d4"/>
    <p:sldId xmlns:r="http://schemas.openxmlformats.org/officeDocument/2006/relationships" id="268" r:id="R145f6aa6ecb54b56"/>
    <p:sldId xmlns:r="http://schemas.openxmlformats.org/officeDocument/2006/relationships" id="269" r:id="Re8a392b4b11546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8fe992bdf54aa8" /><Relationship Type="http://schemas.openxmlformats.org/officeDocument/2006/relationships/slideMaster" Target="/ppt/slideMasters/slideMaster1.xml" Id="R1f6c7daf96d44c03" /><Relationship Type="http://schemas.openxmlformats.org/officeDocument/2006/relationships/notesMaster" Target="/ppt/notesMasters/notesMaster1.xml" Id="R7d639f7686b149c2" /><Relationship Type="http://schemas.openxmlformats.org/officeDocument/2006/relationships/presProps" Target="/ppt/presProps.xml" Id="Rfab3916af51e4778" /><Relationship Type="http://schemas.openxmlformats.org/officeDocument/2006/relationships/tableStyles" Target="/ppt/tableStyles.xml" Id="Ra4368980a1da48f6" /><Relationship Type="http://schemas.openxmlformats.org/officeDocument/2006/relationships/slide" Target="/ppt/slides/slide1.xml" Id="Rfc7935fda9904b8f" /><Relationship Type="http://schemas.openxmlformats.org/officeDocument/2006/relationships/slide" Target="/ppt/slides/slide2.xml" Id="R050600a0a3134255" /><Relationship Type="http://schemas.openxmlformats.org/officeDocument/2006/relationships/slide" Target="/ppt/slides/slide3.xml" Id="Rba98e32d2ded4410" /><Relationship Type="http://schemas.openxmlformats.org/officeDocument/2006/relationships/slide" Target="/ppt/slides/slide4.xml" Id="R6b40cc1bef9e464c" /><Relationship Type="http://schemas.openxmlformats.org/officeDocument/2006/relationships/slide" Target="/ppt/slides/slide5.xml" Id="Rd263ae38912a40a9" /><Relationship Type="http://schemas.openxmlformats.org/officeDocument/2006/relationships/slide" Target="/ppt/slides/slide6.xml" Id="R0af6bd9371bc418a" /><Relationship Type="http://schemas.openxmlformats.org/officeDocument/2006/relationships/slide" Target="/ppt/slides/slide7.xml" Id="Ra7f8dfc1a2494aba" /><Relationship Type="http://schemas.openxmlformats.org/officeDocument/2006/relationships/slide" Target="/ppt/slides/slide8.xml" Id="R73237cf1adb741b4" /><Relationship Type="http://schemas.openxmlformats.org/officeDocument/2006/relationships/slide" Target="/ppt/slides/slide9.xml" Id="R4e905fff039f441f" /><Relationship Type="http://schemas.openxmlformats.org/officeDocument/2006/relationships/slide" Target="/ppt/slides/slide10.xml" Id="R910113d80cc94521" /><Relationship Type="http://schemas.openxmlformats.org/officeDocument/2006/relationships/slide" Target="/ppt/slides/slide11.xml" Id="Rc78e60a699164648" /><Relationship Type="http://schemas.openxmlformats.org/officeDocument/2006/relationships/slide" Target="/ppt/slides/slide12.xml" Id="R104cdfee999845d4" /><Relationship Type="http://schemas.openxmlformats.org/officeDocument/2006/relationships/slide" Target="/ppt/slides/slide13.xml" Id="R145f6aa6ecb54b56" /><Relationship Type="http://schemas.openxmlformats.org/officeDocument/2006/relationships/slide" Target="/ppt/slides/slide14.xml" Id="Re8a392b4b115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bf7ee51034f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bfce0b1da467a" /><Relationship Type="http://schemas.openxmlformats.org/officeDocument/2006/relationships/notesMaster" Target="/ppt/notesMasters/notesMaster1.xml" Id="Rf1ac0bbf754d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78a9b35a24474" /><Relationship Type="http://schemas.openxmlformats.org/officeDocument/2006/relationships/notesMaster" Target="/ppt/notesMasters/notesMaster1.xml" Id="Rededbbd1d8be4f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0dc37b843b4ca0" /><Relationship Type="http://schemas.openxmlformats.org/officeDocument/2006/relationships/notesMaster" Target="/ppt/notesMasters/notesMaster1.xml" Id="R4068f053e22e4f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2e2d052e324102" /><Relationship Type="http://schemas.openxmlformats.org/officeDocument/2006/relationships/notesMaster" Target="/ppt/notesMasters/notesMaster1.xml" Id="R3f1c37fa3d8b4c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a37bf534384125" /><Relationship Type="http://schemas.openxmlformats.org/officeDocument/2006/relationships/notesMaster" Target="/ppt/notesMasters/notesMaster1.xml" Id="R653cd1d0740045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00248043984037" /><Relationship Type="http://schemas.openxmlformats.org/officeDocument/2006/relationships/notesMaster" Target="/ppt/notesMasters/notesMaster1.xml" Id="Ra2300e4ddc7c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c58c9e20154353" /><Relationship Type="http://schemas.openxmlformats.org/officeDocument/2006/relationships/notesMaster" Target="/ppt/notesMasters/notesMaster1.xml" Id="Rb162c60ef23c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1e08288fb54022" /><Relationship Type="http://schemas.openxmlformats.org/officeDocument/2006/relationships/notesMaster" Target="/ppt/notesMasters/notesMaster1.xml" Id="Rf8f51e28f64a4f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0b846d829c449d" /><Relationship Type="http://schemas.openxmlformats.org/officeDocument/2006/relationships/notesMaster" Target="/ppt/notesMasters/notesMaster1.xml" Id="R3b8a75ae831e43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47edcae28b41d3" /><Relationship Type="http://schemas.openxmlformats.org/officeDocument/2006/relationships/notesMaster" Target="/ppt/notesMasters/notesMaster1.xml" Id="Rb86589455bee48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a3ee48bdb64c62" /><Relationship Type="http://schemas.openxmlformats.org/officeDocument/2006/relationships/notesMaster" Target="/ppt/notesMasters/notesMaster1.xml" Id="R0860f5ff09f94a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2331dceb334807" /><Relationship Type="http://schemas.openxmlformats.org/officeDocument/2006/relationships/notesMaster" Target="/ppt/notesMasters/notesMaster1.xml" Id="Rf1d24716a37347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b1b879e39a4402" /><Relationship Type="http://schemas.openxmlformats.org/officeDocument/2006/relationships/notesMaster" Target="/ppt/notesMasters/notesMaster1.xml" Id="Rd713cc1f505346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3a7eca7b934eb2" /><Relationship Type="http://schemas.openxmlformats.org/officeDocument/2006/relationships/notesMaster" Target="/ppt/notesMasters/notesMaster1.xml" Id="Rb3fdde7e2ece44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39e9a766546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79570a13e4a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83abd6aa549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c5dea201045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3f24b20e841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7eba630cb4f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f338bc3b148d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537a83b4541b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8ec95c8f044fd" /><Relationship Type="http://schemas.openxmlformats.org/officeDocument/2006/relationships/image" Target="/ppt/media/image.png" Id="R05a525dda7714c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698464bbf4590" /><Relationship Type="http://schemas.openxmlformats.org/officeDocument/2006/relationships/image" Target="/ppt/media/image2.png" Id="Ree6d009c53c64f4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05a525dda7714c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ee6d009c53c64f4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6a231e9a0a4ddf" /><Relationship Type="http://schemas.openxmlformats.org/officeDocument/2006/relationships/slideLayout" Target="/ppt/slideLayouts/slideLayout1.xml" Id="R0bb1a597e1ba4b54" /><Relationship Type="http://schemas.openxmlformats.org/officeDocument/2006/relationships/slideLayout" Target="/ppt/slideLayouts/slideLayout2.xml" Id="Raca7226ffd5345fd" /><Relationship Type="http://schemas.openxmlformats.org/officeDocument/2006/relationships/slideLayout" Target="/ppt/slideLayouts/slideLayout3.xml" Id="R18af32a8c735431a" /><Relationship Type="http://schemas.openxmlformats.org/officeDocument/2006/relationships/slideLayout" Target="/ppt/slideLayouts/slideLayout4.xml" Id="R26b54101257a4791" /><Relationship Type="http://schemas.openxmlformats.org/officeDocument/2006/relationships/slideLayout" Target="/ppt/slideLayouts/slideLayout5.xml" Id="R7497839acc4e457c" /><Relationship Type="http://schemas.openxmlformats.org/officeDocument/2006/relationships/slideLayout" Target="/ppt/slideLayouts/slideLayout6.xml" Id="R992b1fd1ff184f64" /><Relationship Type="http://schemas.openxmlformats.org/officeDocument/2006/relationships/slideLayout" Target="/ppt/slideLayouts/slideLayout7.xml" Id="R1463cf0ed5124a81" /><Relationship Type="http://schemas.openxmlformats.org/officeDocument/2006/relationships/slideLayout" Target="/ppt/slideLayouts/slideLayout8.xml" Id="R14319ea6bab84074" /><Relationship Type="http://schemas.openxmlformats.org/officeDocument/2006/relationships/slideLayout" Target="/ppt/slideLayouts/slideLayout9.xml" Id="Ra3052c1bc4d84b61" /><Relationship Type="http://schemas.openxmlformats.org/officeDocument/2006/relationships/slideLayout" Target="/ppt/slideLayouts/slideLayout10.xml" Id="R65c28554c43641e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1a597e1ba4b54"/>
    <p:sldLayoutId xmlns:r="http://schemas.openxmlformats.org/officeDocument/2006/relationships" id="2147483650" r:id="Raca7226ffd5345fd"/>
    <p:sldLayoutId xmlns:r="http://schemas.openxmlformats.org/officeDocument/2006/relationships" id="2147483651" r:id="R18af32a8c735431a"/>
    <p:sldLayoutId xmlns:r="http://schemas.openxmlformats.org/officeDocument/2006/relationships" id="2147483652" r:id="R26b54101257a4791"/>
    <p:sldLayoutId xmlns:r="http://schemas.openxmlformats.org/officeDocument/2006/relationships" id="2147483653" r:id="R7497839acc4e457c"/>
    <p:sldLayoutId xmlns:r="http://schemas.openxmlformats.org/officeDocument/2006/relationships" id="2147483654" r:id="R992b1fd1ff184f64"/>
    <p:sldLayoutId xmlns:r="http://schemas.openxmlformats.org/officeDocument/2006/relationships" id="2147483655" r:id="R1463cf0ed5124a81"/>
    <p:sldLayoutId xmlns:r="http://schemas.openxmlformats.org/officeDocument/2006/relationships" id="2147483656" r:id="R14319ea6bab84074"/>
    <p:sldLayoutId xmlns:r="http://schemas.openxmlformats.org/officeDocument/2006/relationships" id="2147483657" r:id="Ra3052c1bc4d84b61"/>
    <p:sldLayoutId xmlns:r="http://schemas.openxmlformats.org/officeDocument/2006/relationships" id="2147483658" r:id="R65c28554c43641ee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f3f3f91e94f57" /><Relationship Type="http://schemas.openxmlformats.org/officeDocument/2006/relationships/notesSlide" Target="/ppt/notesSlides/notesSlide1.xml" Id="R803832a9813e44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64dce0edb114d2a" /><Relationship Type="http://schemas.openxmlformats.org/officeDocument/2006/relationships/notesSlide" Target="/ppt/notesSlides/notesSlide2.xml" Id="Ra6cea7561ef745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ead517ed9cb417b" /><Relationship Type="http://schemas.openxmlformats.org/officeDocument/2006/relationships/notesSlide" Target="/ppt/notesSlides/notesSlide3.xml" Id="R02e30233828049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11cb7aefb5347f9" /><Relationship Type="http://schemas.openxmlformats.org/officeDocument/2006/relationships/notesSlide" Target="/ppt/notesSlides/notesSlide4.xml" Id="Raf0e2def61934b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28ad7ad640b4e0f" /><Relationship Type="http://schemas.openxmlformats.org/officeDocument/2006/relationships/notesSlide" Target="/ppt/notesSlides/notesSlide5.xml" Id="Rbb00b284fad44e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b8d49af2d7543c5" /><Relationship Type="http://schemas.openxmlformats.org/officeDocument/2006/relationships/notesSlide" Target="/ppt/notesSlides/notesSlide6.xml" Id="Rb3aae8b414d843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8d75aad605f499b" /><Relationship Type="http://schemas.openxmlformats.org/officeDocument/2006/relationships/notesSlide" Target="/ppt/notesSlides/notesSlide7.xml" Id="Rfbbf29e01540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0010464db4775" /><Relationship Type="http://schemas.openxmlformats.org/officeDocument/2006/relationships/notesSlide" Target="/ppt/notesSlides/notesSlide8.xml" Id="Rb1f167b6fa724e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4b806385f9d45f8" /><Relationship Type="http://schemas.openxmlformats.org/officeDocument/2006/relationships/notesSlide" Target="/ppt/notesSlides/notesSlide9.xml" Id="R0eaa9744e7b046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48a40beeac4d65" /><Relationship Type="http://schemas.openxmlformats.org/officeDocument/2006/relationships/notesSlide" Target="/ppt/notesSlides/notesSlide10.xml" Id="Rf444c7bdabd34e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eadcd17d4664782" /><Relationship Type="http://schemas.openxmlformats.org/officeDocument/2006/relationships/notesSlide" Target="/ppt/notesSlides/notesSlide11.xml" Id="Rebb5155aaad244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ad55841144824" /><Relationship Type="http://schemas.openxmlformats.org/officeDocument/2006/relationships/notesSlide" Target="/ppt/notesSlides/notesSlide12.xml" Id="R9c0b918bd1c54b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13e3176a4064663" /><Relationship Type="http://schemas.openxmlformats.org/officeDocument/2006/relationships/notesSlide" Target="/ppt/notesSlides/notesSlide13.xml" Id="R82fe492e57ea43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7d353b15944ad" /><Relationship Type="http://schemas.openxmlformats.org/officeDocument/2006/relationships/notesSlide" Target="/ppt/notesSlides/notesSlide14.xml" Id="Re7bb3e3ff6bf4f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 b="1">
                <a:solidFill>
                  <a:srgbClr val="00A878"/>
                </a:solidFill>
                <a:latin typeface="Helvetica Neue"/>
                <a:ea typeface="Helvetica Neue"/>
                <a:cs typeface="Helvetica Neue"/>
              </a:rPr>
              <a:t>FamFinance</a:t>
            </a:r>
            <a:r>
              <a:rPr sz="72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
Keuangan Keluarga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Presentasi Lengkap • Project Akhir Web Programming II</a:t>
            </a:r>
          </a:p>
          <a:p xmlns:a="http://schemas.openxmlformats.org/drawingml/2006/main">
            <a:r>
              <a:rPr sz="20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Yosia Christian • Zidan Marzianda</a:t>
            </a:r>
          </a:p>
          <a:p xmlns:a="http://schemas.openxmlformats.org/drawingml/2006/main">
            <a:r>
              <a:rPr sz="20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Abdul Rofi’i • Deswara Tohari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FAMFINANCE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SISTEM INFORMASI • 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Latar belakang pengembangan</a:t>
            </a:r>
          </a:p>
        </p:txBody>
      </p:sp>
      <p:sp>
        <p:nvSpPr>
          <p:cNvPr id="535" name="column-pencatatan-terpisah">
            <a:extLst xmlns:a="http://schemas.openxmlformats.org/drawingml/2006/main">
              <a:ext uri="{FF2B5EF4-FFF2-40B4-BE49-F238E27FC236}">
                <a16:creationId xmlns:a16="http://schemas.microsoft.com/office/drawing/2014/main" id="{0ED950C7-59A8-4FC4-9777-13E5B071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Pencatatan Terpisah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Catatan pada buku, pesan pribadi, atau lembar kerja terpisah menyulitkan pencarian data, rekonsiliasi saldo, pemantauan anggaran, dan penyusunan laporan.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Data tidak terpusat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Saldo sulit dicocokkan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Evaluasi tidak konsisten</a:t>
            </a:r>
          </a:p>
        </p:txBody>
      </p:sp>
      <p:sp>
        <p:nvSpPr>
          <p:cNvPr id="536" name="column-kebutuhan-keluarga">
            <a:extLst xmlns:a="http://schemas.openxmlformats.org/drawingml/2006/main">
              <a:ext uri="{FF2B5EF4-FFF2-40B4-BE49-F238E27FC236}">
                <a16:creationId xmlns:a16="http://schemas.microsoft.com/office/drawing/2014/main" id="{B8BEBB78-2FE5-4A7B-BC21-46565C42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Kebutuhan Keluarga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Satu ruang kerja berbasis web diperlukan agar anggota terdaftar mengakses informasi yang sama. Struktur data, alur proses, validasi, dan pengujian dirancang sejak awal.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Akses bersama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Proses terstruktur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Jejak perubahan</a:t>
            </a:r>
          </a:p>
        </p:txBody>
      </p:sp>
      <p:sp>
        <p:nvSpPr>
          <p:cNvPr id="537" name="column-implementasi">
            <a:extLst xmlns:a="http://schemas.openxmlformats.org/drawingml/2006/main">
              <a:ext uri="{FF2B5EF4-FFF2-40B4-BE49-F238E27FC236}">
                <a16:creationId xmlns:a16="http://schemas.microsoft.com/office/drawing/2014/main" id="{2E1E7E74-C2B4-4F49-AEEA-FBAC40C8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FamFinance dibangun dengan Laravel 13, Blade, MySQL, Tailwind CSS, Alpine.js, dan Chart.js untuk memusatkan data serta menyajikan kondisi keuangan secara responsif.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Server-side Blade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Basis data MySQL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Grafik interaktif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Tujuan dan ruang lingkup</a:t>
            </a:r>
          </a:p>
        </p:txBody>
      </p:sp>
      <p:sp>
        <p:nvSpPr>
          <p:cNvPr id="535" name="column-sasaran-utama">
            <a:extLst xmlns:a="http://schemas.openxmlformats.org/drawingml/2006/main">
              <a:ext uri="{FF2B5EF4-FFF2-40B4-BE49-F238E27FC236}">
                <a16:creationId xmlns:a16="http://schemas.microsoft.com/office/drawing/2014/main" id="{25F81336-89B8-4B47-BA85-6499BF27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Sasaran Utama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FamFinance menyimpan data keluarga secara terpusat, menyediakan dashboard ringkasan, dan mencatat pemasukan maupun pengeluaran hanya dengan status Sukses atau Batal.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Saldo konsisten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Aktivitas terbaru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Data mudah ditinjau</a:t>
            </a:r>
          </a:p>
        </p:txBody>
      </p:sp>
      <p:sp>
        <p:nvSpPr>
          <p:cNvPr id="536" name="column-ruang-fungsional">
            <a:extLst xmlns:a="http://schemas.openxmlformats.org/drawingml/2006/main">
              <a:ext uri="{FF2B5EF4-FFF2-40B4-BE49-F238E27FC236}">
                <a16:creationId xmlns:a16="http://schemas.microsoft.com/office/drawing/2014/main" id="{BADA0157-7607-4964-AA7B-5FAF43C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Ruang Fungsional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Sistem mendukung registrasi keluarga, login, transaksi, kategori, anggaran, dompet, anggota, filter, laporan, histori, pengaturan, dan logout.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Halaman terproteksi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Filter periode dan kategori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Audit transaksi</a:t>
            </a:r>
          </a:p>
        </p:txBody>
      </p:sp>
      <p:sp>
        <p:nvSpPr>
          <p:cNvPr id="537" name="column-batasan-versi">
            <a:extLst xmlns:a="http://schemas.openxmlformats.org/drawingml/2006/main">
              <a:ext uri="{FF2B5EF4-FFF2-40B4-BE49-F238E27FC236}">
                <a16:creationId xmlns:a16="http://schemas.microsoft.com/office/drawing/2014/main" id="{9D6A687D-3ACC-409A-A27D-6A482647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Batasan Versi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Role belum membedakan izin, sistem belum terhubung ke layanan keuangan eksternal, export laporan masih dipersiapkan, dan recovery akun belum tersedia.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Tanpa integrasi bank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Belum ada reset password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Backup belum otomatis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7480844-4900-48C8-8A2A-C82C89AD89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Transaksi &amp; Saldo</a:t>
            </a:r>
            <a:r>
              <a:rPr sz="19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
Setiap pemasukan atau pengeluaran terhubung ke kategori dan dompet. Sistem mengembalikan dampak transaksi lama sebelum update atau delete, lalu menerapkan kondisi baru.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D1A01C59-420C-4773-82CA-800574442D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4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2868834F-9BDA-436C-BF0D-5F4581CF9D6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Anggaran &amp; Dompet</a:t>
            </a:r>
            <a:r>
              <a:rPr sz="19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
Kategori expense menjadi dasar limit bulanan. Dompet tunai, bank, dan e-wallet menyimpan saldo serta aktivitas; dompet terpakai tidak dapat dihapus.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A0D53CB9-6E04-44ED-B3DD-4DCD3B524BDF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Keluarga &amp; Evaluasi</a:t>
            </a:r>
            <a:r>
              <a:rPr sz="19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
Anggota, role, status akun, dashboard, laporan, filter periode, distribusi pengeluaran, dan histori perubahan memberi transparansi bagi keluarga.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5D3530BE-1D02-478C-9CB2-04960794B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Modul dan kemampuan utama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A6D76C4C-A264-4256-ACE5-B08DF83E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A878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6068438-B0E9-4F31-BF6F-2301131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A878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0882BEE1-5286-4836-9EFF-78119BF9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A878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2203487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Sequence penggunaan aplikasi</a:t>
            </a:r>
          </a:p>
        </p:txBody>
      </p:sp>
      <p:sp>
        <p:nvSpPr>
          <p:cNvPr id="535" name="column-persiapkan-akun">
            <a:extLst xmlns:a="http://schemas.openxmlformats.org/drawingml/2006/main">
              <a:ext uri="{FF2B5EF4-FFF2-40B4-BE49-F238E27FC236}">
                <a16:creationId xmlns:a16="http://schemas.microsoft.com/office/drawing/2014/main" id="{22622495-5160-4D84-8CBB-22124318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Persiapkan Akun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Daftarkan keluarga dan kepala keluarga atau login dengan akun aktif. Periksa anggota, lalu siapkan kategori, dompet beserta saldo awal, dan anggaran bulanan.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Registrasi atau login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Anggota dan role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Kategori, dompet, anggaran</a:t>
            </a:r>
          </a:p>
        </p:txBody>
      </p:sp>
      <p:sp>
        <p:nvSpPr>
          <p:cNvPr id="536" name="column-catat-aktivitas">
            <a:extLst xmlns:a="http://schemas.openxmlformats.org/drawingml/2006/main">
              <a:ext uri="{FF2B5EF4-FFF2-40B4-BE49-F238E27FC236}">
                <a16:creationId xmlns:a16="http://schemas.microsoft.com/office/drawing/2014/main" id="{DF62057A-DE6D-48F9-BA32-EBD4A8F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Catat Aktivitas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Masukkan tipe, kategori, dompet, nominal, tanggal, metode, dan status. Transaksi Sukses mengubah saldo; Batal tetap tersimpan tanpa dampak saldo.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Validasi tipe kategori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Saldo otomatis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Histori create/update/delete</a:t>
            </a:r>
          </a:p>
        </p:txBody>
      </p:sp>
      <p:sp>
        <p:nvSpPr>
          <p:cNvPr id="537" name="column-pantau-kondisi">
            <a:extLst xmlns:a="http://schemas.openxmlformats.org/drawingml/2006/main">
              <a:ext uri="{FF2B5EF4-FFF2-40B4-BE49-F238E27FC236}">
                <a16:creationId xmlns:a16="http://schemas.microsoft.com/office/drawing/2014/main" id="{8BFE43EE-059A-4528-AA70-53F07922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Pantau Kondisi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Gunakan dashboard dan laporan untuk membaca cashflow, realisasi anggaran, transaksi terbaru, distribusi pengeluaran, serta perubahan data pada periode tertentu.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Filter transaksi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Laporan dan histori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Logout setelah selesai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Struktur navigasi FamFinance</a:t>
            </a:r>
          </a:p>
        </p:txBody>
      </p:sp>
      <p:sp>
        <p:nvSpPr>
          <p:cNvPr id="535" name="column-area-publik">
            <a:extLst xmlns:a="http://schemas.openxmlformats.org/drawingml/2006/main">
              <a:ext uri="{FF2B5EF4-FFF2-40B4-BE49-F238E27FC236}">
                <a16:creationId xmlns:a16="http://schemas.microsoft.com/office/drawing/2014/main" id="{0CD0F47B-C677-4432-A7AF-66DADFBA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Area Publik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Landing menjadi halaman awal. Login menerima email atau username, sedangkan Registrasi Keluarga membuat keluarga, kepala keluarga, kategori awal, dan dompet default.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Landing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Login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Registrasi Keluarga</a:t>
            </a:r>
          </a:p>
        </p:txBody>
      </p:sp>
      <p:sp>
        <p:nvSpPr>
          <p:cNvPr id="536" name="column-dashboard">
            <a:extLst xmlns:a="http://schemas.openxmlformats.org/drawingml/2006/main">
              <a:ext uri="{FF2B5EF4-FFF2-40B4-BE49-F238E27FC236}">
                <a16:creationId xmlns:a16="http://schemas.microsoft.com/office/drawing/2014/main" id="{706E38CB-E2E4-40F3-BCDD-5B9CC514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Setelah autentikasi berhasil, Dashboard menjadi pusat navigasi yang menyatukan saldo, cashflow, anggaran, grafik, transaksi terbaru, distribusi pengeluaran, dan histori.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Ringkasan periode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Akses seluruh modul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Data keluarga aktif</a:t>
            </a:r>
          </a:p>
        </p:txBody>
      </p:sp>
      <p:sp>
        <p:nvSpPr>
          <p:cNvPr id="537" name="column-menu-terproteksi">
            <a:extLst xmlns:a="http://schemas.openxmlformats.org/drawingml/2006/main">
              <a:ext uri="{FF2B5EF4-FFF2-40B4-BE49-F238E27FC236}">
                <a16:creationId xmlns:a16="http://schemas.microsoft.com/office/drawing/2014/main" id="{DE758986-9FAE-416C-B428-6C12DF12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Menu Terproteksi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Pengguna menuju Transaksi, Kategori, Anggaran, Dompet, Anggota Keluarga, Laporan, dan Pengaturan. Logout mengakhiri session dan kembali ke login.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Seluruh menu membutuhkan login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Data dibatasi family_id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Logout aman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Perancangan data dan relasi</a:t>
            </a:r>
          </a:p>
        </p:txBody>
      </p:sp>
      <p:sp>
        <p:nvSpPr>
          <p:cNvPr id="535" name="column-entitas-keluarga">
            <a:extLst xmlns:a="http://schemas.openxmlformats.org/drawingml/2006/main">
              <a:ext uri="{FF2B5EF4-FFF2-40B4-BE49-F238E27FC236}">
                <a16:creationId xmlns:a16="http://schemas.microsoft.com/office/drawing/2014/main" id="{AC6C5BFA-4847-4963-8F9C-3DA8A8EB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Entitas Keluarga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Family menjadi batas kepemilikan data. User menyimpan akun, kredensial, status aktif, family_id, dan role_id. Role menjelaskan identitas peran anggota.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Family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User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Role</a:t>
            </a:r>
          </a:p>
        </p:txBody>
      </p:sp>
      <p:sp>
        <p:nvSpPr>
          <p:cNvPr id="536" name="column-keuangan-inti">
            <a:extLst xmlns:a="http://schemas.openxmlformats.org/drawingml/2006/main">
              <a:ext uri="{FF2B5EF4-FFF2-40B4-BE49-F238E27FC236}">
                <a16:creationId xmlns:a16="http://schemas.microsoft.com/office/drawing/2014/main" id="{9CBC5DD0-F2D7-4FC8-9E2E-C2450D6E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Keuangan Inti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Category membedakan income dan expense. Wallet menyimpan sumber dana dan saldo. Transaction menghubungkan pengguna, kategori, dompet, nominal, metode, tanggal, dan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Category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Wallet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Transaction</a:t>
            </a:r>
          </a:p>
        </p:txBody>
      </p:sp>
      <p:sp>
        <p:nvSpPr>
          <p:cNvPr id="537" name="column-anggaran-audit">
            <a:extLst xmlns:a="http://schemas.openxmlformats.org/drawingml/2006/main">
              <a:ext uri="{FF2B5EF4-FFF2-40B4-BE49-F238E27FC236}">
                <a16:creationId xmlns:a16="http://schemas.microsoft.com/office/drawing/2014/main" id="{F2429A4C-176E-47A5-9014-65886D85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Anggaran &amp;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Budget menyimpan limit kategori expense per bulan dan tahun. TransactionHistory menyimpan aksi create, update, dan delete beserta snapshot old_data dan new_data berbentuk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BIGINT primary key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DECIMAL untuk nominal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Constraint unik dan foreign key</a:t>
            </a:r>
          </a:p>
        </p:txBody>
      </p:sp>
      <p:sp>
        <p:nvSpPr>
          <p:cNvPr id="538" name="column-number-1">
            <a:extLst xmlns:a="http://schemas.openxmlformats.org/drawingml/2006/main">
              <a:ext uri="{FF2B5EF4-FFF2-40B4-BE49-F238E27FC236}">
                <a16:creationId xmlns:a16="http://schemas.microsoft.com/office/drawing/2014/main" id="{1408F983-7753-4C7E-AAC4-625919C3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39" name="column-number-2">
            <a:extLst xmlns:a="http://schemas.openxmlformats.org/drawingml/2006/main">
              <a:ext uri="{FF2B5EF4-FFF2-40B4-BE49-F238E27FC236}">
                <a16:creationId xmlns:a16="http://schemas.microsoft.com/office/drawing/2014/main" id="{5331F528-EAB8-42EA-9571-C1D1E75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40" name="column-number-3">
            <a:extLst xmlns:a="http://schemas.openxmlformats.org/drawingml/2006/main">
              <a:ext uri="{FF2B5EF4-FFF2-40B4-BE49-F238E27FC236}">
                <a16:creationId xmlns:a16="http://schemas.microsoft.com/office/drawing/2014/main" id="{35DF5CDD-5874-431E-90CB-4C454AAE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Dua status,</a:t>
            </a:r>
          </a:p>
          <a:p xmlns:a="http://schemas.openxmlformats.org/drawingml/2006/main">
            <a:pPr>
              <a:buNone/>
              <a:defRPr sz="48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saldo tetap</a:t>
            </a:r>
          </a:p>
          <a:p xmlns:a="http://schemas.openxmlformats.org/drawingml/2006/main">
            <a:pPr>
              <a:buNone/>
              <a:defRPr sz="48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konsisten.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7B4A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000500"/>
            <a:ext cx="294933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Sukses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Pemasukan menambah saldo dan pengeluaran menguranginya. Saat data diubah atau dihapus, dampak lama dikembalikan sebelum kondisi baru diterapkan. Histori mencatat setiap perubahan.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000500"/>
            <a:ext cx="294933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Batal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Transaksi tetap terdokumentasi tanpa mengubah saldo dompet. Status dapat diubah menjadi Sukses melalui validasi yang sama. Sistem tidak menyediakan kondisi Pending atau status lain.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A878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Kategori, anggaran, dan dompet</a:t>
            </a:r>
          </a:p>
        </p:txBody>
      </p:sp>
      <p:sp>
        <p:nvSpPr>
          <p:cNvPr id="535" name="column-kategori">
            <a:extLst xmlns:a="http://schemas.openxmlformats.org/drawingml/2006/main">
              <a:ext uri="{FF2B5EF4-FFF2-40B4-BE49-F238E27FC236}">
                <a16:creationId xmlns:a16="http://schemas.microsoft.com/office/drawing/2014/main" id="{F836CED3-377C-4D48-82F7-82AE398C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Kategori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Kategori memisahkan pemasukan dan pengeluaran melalui tipe income atau expense. Nama, ikon, dan warna membantu identifikasi, sedangkan kategori default dilindungi dari penghapusan.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Sesuai family_id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Tipe harus cocok dengan transaksi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Dapat ditambah dan diperbarui</a:t>
            </a:r>
          </a:p>
        </p:txBody>
      </p:sp>
      <p:sp>
        <p:nvSpPr>
          <p:cNvPr id="536" name="column-anggaran">
            <a:extLst xmlns:a="http://schemas.openxmlformats.org/drawingml/2006/main">
              <a:ext uri="{FF2B5EF4-FFF2-40B4-BE49-F238E27FC236}">
                <a16:creationId xmlns:a16="http://schemas.microsoft.com/office/drawing/2014/main" id="{A67432A2-564F-44E7-9295-76299DE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Anggaran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Anggaran menetapkan limit bulanan untuk kategori expense. Kombinasi keluarga, kategori, bulan, dan tahun dibuat unik; realisasi dihitung dari transaksi pengeluaran berstatus Sukses.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Limit per kategori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Periode bulan dan tahun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Progress realisasi</a:t>
            </a:r>
          </a:p>
        </p:txBody>
      </p:sp>
      <p:sp>
        <p:nvSpPr>
          <p:cNvPr id="537" name="column-dompet">
            <a:extLst xmlns:a="http://schemas.openxmlformats.org/drawingml/2006/main">
              <a:ext uri="{FF2B5EF4-FFF2-40B4-BE49-F238E27FC236}">
                <a16:creationId xmlns:a16="http://schemas.microsoft.com/office/drawing/2014/main" id="{571DF08C-D491-4CEB-B857-8DA71A6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Dompet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Dompet mewakili tunai, bank, atau e-wallet dengan nomor akun dan saldo. Aktivitas, cashflow, dan transaksi terkait ditampilkan; dompet terpakai tidak dapat dihapus.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Saldo awal dan saldo aktif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Income menambah saldo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Expense mengurangi saldo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Anggota, dashboard, dan laporan</a:t>
            </a:r>
          </a:p>
        </p:txBody>
      </p:sp>
      <p:sp>
        <p:nvSpPr>
          <p:cNvPr id="535" name="column-anggota-keluarga">
            <a:extLst xmlns:a="http://schemas.openxmlformats.org/drawingml/2006/main">
              <a:ext uri="{FF2B5EF4-FFF2-40B4-BE49-F238E27FC236}">
                <a16:creationId xmlns:a16="http://schemas.microsoft.com/office/drawing/2014/main" id="{2751FBC4-5CD7-4EC2-92FE-6970F539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Anggota Keluarga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Anggota baru selalu terhubung ke family_id pembuat. Nama, username, email, role, password, dan status aktif dapat dikelola; akun nonaktif tidak dapat melakukan login.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Filter nama dan status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Role dapat diperbarui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Akses lintas keluarga ditolak</a:t>
            </a:r>
          </a:p>
        </p:txBody>
      </p:sp>
      <p:sp>
        <p:nvSpPr>
          <p:cNvPr id="536" name="column-dashboard">
            <a:extLst xmlns:a="http://schemas.openxmlformats.org/drawingml/2006/main">
              <a:ext uri="{FF2B5EF4-FFF2-40B4-BE49-F238E27FC236}">
                <a16:creationId xmlns:a16="http://schemas.microsoft.com/office/drawing/2014/main" id="{3A27075D-2EBE-4EA9-8888-F95CFA6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Dashboard menggabungkan saldo dompet, pemasukan, pengeluaran, net cashflow, realisasi anggaran, grafik, distribusi pengeluaran, transaksi terbaru, dan histori sesuai periode.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Ringkasan bulanan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Progress anggaran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Aktivitas terbaru</a:t>
            </a:r>
          </a:p>
        </p:txBody>
      </p:sp>
      <p:sp>
        <p:nvSpPr>
          <p:cNvPr id="537" name="column-laporan-histori">
            <a:extLst xmlns:a="http://schemas.openxmlformats.org/drawingml/2006/main">
              <a:ext uri="{FF2B5EF4-FFF2-40B4-BE49-F238E27FC236}">
                <a16:creationId xmlns:a16="http://schemas.microsoft.com/office/drawing/2014/main" id="{4FC88DB8-4368-44F4-BE71-3D9E8334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Laporan &amp; Histori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Laporan menghitung nominal hanya dari transaksi Sukses. Pengguna memilih periode, rentang tanggal, dan kategori, lalu meninjau tabel transaksi serta audit create, update, dan delete.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Pemasukan dan pengeluaran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Distribusi kategori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Jejak audit perubahan</a:t>
            </a:r>
          </a:p>
        </p:txBody>
      </p:sp>
      <p:sp>
        <p:nvSpPr>
          <p:cNvPr id="538" name="column-number-1">
            <a:extLst xmlns:a="http://schemas.openxmlformats.org/drawingml/2006/main">
              <a:ext uri="{FF2B5EF4-FFF2-40B4-BE49-F238E27FC236}">
                <a16:creationId xmlns:a16="http://schemas.microsoft.com/office/drawing/2014/main" id="{7315640E-8C0A-47F5-A4DC-E8224E0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39" name="column-number-2">
            <a:extLst xmlns:a="http://schemas.openxmlformats.org/drawingml/2006/main">
              <a:ext uri="{FF2B5EF4-FFF2-40B4-BE49-F238E27FC236}">
                <a16:creationId xmlns:a16="http://schemas.microsoft.com/office/drawing/2014/main" id="{CE25C9C2-C3A4-423E-A04C-46CA7044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40" name="column-number-3">
            <a:extLst xmlns:a="http://schemas.openxmlformats.org/drawingml/2006/main">
              <a:ext uri="{FF2B5EF4-FFF2-40B4-BE49-F238E27FC236}">
                <a16:creationId xmlns:a16="http://schemas.microsoft.com/office/drawing/2014/main" id="{22467519-C2ED-4A22-82D7-1048265A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333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Keamanan, validasi, dan batasan</a:t>
            </a:r>
          </a:p>
        </p:txBody>
      </p:sp>
      <p:sp>
        <p:nvSpPr>
          <p:cNvPr id="535" name="column-isolasi-data">
            <a:extLst xmlns:a="http://schemas.openxmlformats.org/drawingml/2006/main">
              <a:ext uri="{FF2B5EF4-FFF2-40B4-BE49-F238E27FC236}">
                <a16:creationId xmlns:a16="http://schemas.microsoft.com/office/drawing/2014/main" id="{2CDBF033-F538-4098-A64D-E3F20A37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Isolasi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family_id menjadi batas kepemilikan objek. Pengguna tidak dapat memakai kategori atau dompet keluarga lain dan tidak dapat membuka transaksi maupun anggota dari keluarga berbeda.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Query selalu dibatasi keluarga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Objek asing menghasilkan 404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Histori mengikuti transaksi</a:t>
            </a:r>
          </a:p>
        </p:txBody>
      </p:sp>
      <p:sp>
        <p:nvSpPr>
          <p:cNvPr id="536" name="column-validasi-server">
            <a:extLst xmlns:a="http://schemas.openxmlformats.org/drawingml/2006/main">
              <a:ext uri="{FF2B5EF4-FFF2-40B4-BE49-F238E27FC236}">
                <a16:creationId xmlns:a16="http://schemas.microsoft.com/office/drawing/2014/main" id="{D91C6E1C-29EE-406D-BBD4-50063734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Validasi 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Login memeriksa email atau username, hash password, status aktif, dan session. Transaksi memvalidasi tipe kategori, kepemilikan dompet, nominal, tanggal, serta status Sukses atau Batal.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Akun aktif wajib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Kategori harus sesuai tipe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Status lain ditolak</a:t>
            </a:r>
          </a:p>
        </p:txBody>
      </p:sp>
      <p:sp>
        <p:nvSpPr>
          <p:cNvPr id="537" name="column-batasan-implementasi">
            <a:extLst xmlns:a="http://schemas.openxmlformats.org/drawingml/2006/main">
              <a:ext uri="{FF2B5EF4-FFF2-40B4-BE49-F238E27FC236}">
                <a16:creationId xmlns:a16="http://schemas.microsoft.com/office/drawing/2014/main" id="{0C0D6E13-4908-4C2A-8604-F29E7B9D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Batasan Implementasi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Izin belum dibedakan per role, layanan bank dan e-wallet belum terhubung, export laporan belum menghasilkan file, serta reset password, verifikasi email, dan backup belum tersedia.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Fokus pada kebutuhan inti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Integrasi eksternal belum ada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Fitur lanjutan teridentifikasi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Hasil pengujian aplikasi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*Pengujian akhir: 5 Juli 2026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Cakupan pengujian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Autentikasi dan seluruh halaman terproteksi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Konsistensi saldo, status, dan histori transaksi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• Isolasi keluarga, filter, laporan, seed, dan build Vite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u="none" cap="none">
                <a:ln>
                  <a:noFill/>
                </a:ln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route aplikasi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u="none" cap="none">
                <a:ln>
                  <a:noFill/>
                </a:ln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88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transaksi Sukses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u="none" cap="none">
                <a:ln>
                  <a:noFill/>
                </a:ln>
                <a:solidFill>
                  <a:srgbClr val="D92D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transaksi Batal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7E7D4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u="none" cap="none">
                <a:ln>
                  <a:noFill/>
                </a:ln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test lulus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u="none" cap="none">
                <a:ln>
                  <a:noFill/>
                </a:ln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145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assertion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u="none" cap="none">
                <a:ln>
                  <a:noFill/>
                </a:ln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file PHP lolos lint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Pengembangan berikutnya</a:t>
            </a:r>
          </a:p>
        </p:txBody>
      </p:sp>
      <p:sp>
        <p:nvSpPr>
          <p:cNvPr id="535" name="column-hak-akses-akun">
            <a:extLst xmlns:a="http://schemas.openxmlformats.org/drawingml/2006/main">
              <a:ext uri="{FF2B5EF4-FFF2-40B4-BE49-F238E27FC236}">
                <a16:creationId xmlns:a16="http://schemas.microsoft.com/office/drawing/2014/main" id="{461DD914-30D4-4ED8-A04C-A7C4E783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Hak Akses &amp; Akun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Pengembangan berikutnya dapat membedakan izin berdasarkan role dan menambahkan reset password serta verifikasi email agar pengelolaan akun lebih aman dan mandiri.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Otorisasi per role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Reset password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Verifikasi email</a:t>
            </a:r>
          </a:p>
        </p:txBody>
      </p:sp>
      <p:sp>
        <p:nvSpPr>
          <p:cNvPr id="536" name="column-laporan-notifikasi">
            <a:extLst xmlns:a="http://schemas.openxmlformats.org/drawingml/2006/main">
              <a:ext uri="{FF2B5EF4-FFF2-40B4-BE49-F238E27FC236}">
                <a16:creationId xmlns:a16="http://schemas.microsoft.com/office/drawing/2014/main" id="{771AD952-E61E-46EA-9385-09F07E5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Laporan &amp; Notifikasi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Export PDF dan Excel perlu menghasilkan file nyata. Notifikasi anggaran dan laporan yang lebih kaya dapat membantu keluarga merespons pengeluaran sebelum melewati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Export siap unduh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Notifikasi anggaran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Analisis periode lebih lengkap</a:t>
            </a:r>
          </a:p>
        </p:txBody>
      </p:sp>
      <p:sp>
        <p:nvSpPr>
          <p:cNvPr id="537" name="column-integrasi-reliabilitas">
            <a:extLst xmlns:a="http://schemas.openxmlformats.org/drawingml/2006/main">
              <a:ext uri="{FF2B5EF4-FFF2-40B4-BE49-F238E27FC236}">
                <a16:creationId xmlns:a16="http://schemas.microsoft.com/office/drawing/2014/main" id="{950D1A0D-978E-43AF-BE51-E9C520A1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 </a:t>
            </a:r>
            <a:r>
              <a:rPr sz="18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Integrasi &amp; Reliabilitas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Transfer antardompet, integrasi bank atau e-wallet, dan backup otomatis dapat memperluas penggunaan. Setiap penambahan tetap memerlukan pengujian regresi untuk menjaga konsistensi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Transfer antardompet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Integrasi layanan keuangan</a:t>
            </a:r>
          </a:p>
          <a:p xmlns:a="http://schemas.openxmlformats.org/drawingml/2006/main">
            <a:pPr>
              <a:def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- Backup dan regression test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8F8F1"/>
          </a:solidFill>
          <a:ln xmlns:a="http://schemas.openxmlformats.org/drawingml/2006/main" w="0">
            <a:solidFill>
              <a:srgbClr val="E8F8F1"/>
            </a:solidFill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10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Data terpusat.</a:t>
            </a:r>
          </a:p>
          <a:p xmlns:a="http://schemas.openxmlformats.org/drawingml/2006/main">
            <a:pPr>
              <a:buNone/>
              <a:defRPr sz="42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Saldo konsisten.</a:t>
            </a:r>
          </a:p>
          <a:p xmlns:a="http://schemas.openxmlformats.org/drawingml/2006/main">
            <a:pPr>
              <a:buNone/>
              <a:defRPr sz="42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Akses terisolasi.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4095750"/>
            <a:ext cx="5537168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 sz="42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FamFinance</a:t>
            </a:r>
          </a:p>
          <a:p xmlns:a="http://schemas.openxmlformats.org/drawingml/2006/main">
            <a:pPr>
              <a:buNone/>
              <a:defRPr sz="42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siap digunakan</a:t>
            </a:r>
          </a:p>
          <a:p xmlns:a="http://schemas.openxmlformats.org/drawingml/2006/main">
            <a:pPr>
              <a:buNone/>
              <a:defRPr sz="42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7A55"/>
                </a:solidFill>
                <a:latin typeface="Helvetica Neue"/>
                <a:ea typeface="Helvetica Neue"/>
                <a:cs typeface="Helvetica Neue"/>
              </a:rPr>
              <a:t>sesuai rancangan.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2026-07-05T03:03:46.0210000Z</dcterms:created>
  <dcterms:modified xsi:type="dcterms:W3CDTF">2026-07-05T03:03:46.0210000Z</dcterms:modified>
</coreProperties>
</file>
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c4830018bb46b8" /><Relationship Type="http://schemas.openxmlformats.org/officeDocument/2006/relationships/extended-properties" Target="/docProps/app.xml" Id="R2254cc36170845bd" /><Relationship Type="http://schemas.openxmlformats.org/officeDocument/2006/relationships/officeDocument" Target="/ppt/presentation.xml" Id="R2a26e5638d994620" /></Relationships>
</file>

<file path=ppt/presentation.xml><?xml version="1.0" encoding="utf-8"?>
<p:presentation xmlns:p="http://schemas.openxmlformats.org/presentationml/2006/main">
  <p:sldMasterIdLst>
    <p:sldMasterId xmlns:r="http://schemas.openxmlformats.org/officeDocument/2006/relationships" id="2147483648" r:id="R5b7517e375e0436a"/>
  </p:sldMasterIdLst>
  <p:notesMasterIdLst>
    <p:notesMasterId xmlns:r="http://schemas.openxmlformats.org/officeDocument/2006/relationships" r:id="Rb5d917a5cdb14ac3"/>
  </p:notesMasterIdLst>
  <p:sldIdLst>
    <p:sldId xmlns:r="http://schemas.openxmlformats.org/officeDocument/2006/relationships" id="256" r:id="R5c756769bac045ff"/>
    <p:sldId xmlns:r="http://schemas.openxmlformats.org/officeDocument/2006/relationships" id="257" r:id="R2fa505434ad34c49"/>
    <p:sldId xmlns:r="http://schemas.openxmlformats.org/officeDocument/2006/relationships" id="258" r:id="R08f04425c6634482"/>
    <p:sldId xmlns:r="http://schemas.openxmlformats.org/officeDocument/2006/relationships" id="259" r:id="Re4651c5f5c9f4dd8"/>
    <p:sldId xmlns:r="http://schemas.openxmlformats.org/officeDocument/2006/relationships" id="260" r:id="Ra2f37d387b5e4bee"/>
    <p:sldId xmlns:r="http://schemas.openxmlformats.org/officeDocument/2006/relationships" id="261" r:id="R47e6526b0cda4df6"/>
    <p:sldId xmlns:r="http://schemas.openxmlformats.org/officeDocument/2006/relationships" id="262" r:id="Rc7b5921b12734ca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e5f92933fc4349b1" /><Relationship Type="http://schemas.openxmlformats.org/officeDocument/2006/relationships/slideMaster" Target="/ppt/slideMasters/slideMaster1.xml" Id="R5b7517e375e0436a" /><Relationship Type="http://schemas.openxmlformats.org/officeDocument/2006/relationships/notesMaster" Target="/ppt/notesMasters/notesMaster1.xml" Id="Rb5d917a5cdb14ac3" /><Relationship Type="http://schemas.openxmlformats.org/officeDocument/2006/relationships/presProps" Target="/ppt/presProps.xml" Id="Rba20f3ecb0a24563" /><Relationship Type="http://schemas.openxmlformats.org/officeDocument/2006/relationships/tableStyles" Target="/ppt/tableStyles.xml" Id="R6032b273a3aa43a5" /><Relationship Type="http://schemas.openxmlformats.org/officeDocument/2006/relationships/slide" Target="/ppt/slides/slide1.xml" Id="R5c756769bac045ff" /><Relationship Type="http://schemas.openxmlformats.org/officeDocument/2006/relationships/slide" Target="/ppt/slides/slide2.xml" Id="R2fa505434ad34c49" /><Relationship Type="http://schemas.openxmlformats.org/officeDocument/2006/relationships/slide" Target="/ppt/slides/slide3.xml" Id="R08f04425c6634482" /><Relationship Type="http://schemas.openxmlformats.org/officeDocument/2006/relationships/slide" Target="/ppt/slides/slide4.xml" Id="Re4651c5f5c9f4dd8" /><Relationship Type="http://schemas.openxmlformats.org/officeDocument/2006/relationships/slide" Target="/ppt/slides/slide5.xml" Id="Ra2f37d387b5e4bee" /><Relationship Type="http://schemas.openxmlformats.org/officeDocument/2006/relationships/slide" Target="/ppt/slides/slide6.xml" Id="R47e6526b0cda4df6" /><Relationship Type="http://schemas.openxmlformats.org/officeDocument/2006/relationships/slide" Target="/ppt/slides/slide7.xml" Id="Rc7b5921b1273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ca90b54b545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30a990bd284bfc" /><Relationship Type="http://schemas.openxmlformats.org/officeDocument/2006/relationships/notesMaster" Target="/ppt/notesMasters/notesMaster1.xml" Id="R3b3e40b997ea4b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fa81240da34633" /><Relationship Type="http://schemas.openxmlformats.org/officeDocument/2006/relationships/notesMaster" Target="/ppt/notesMasters/notesMaster1.xml" Id="R1300203e323b42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de7688f23a4d57" /><Relationship Type="http://schemas.openxmlformats.org/officeDocument/2006/relationships/notesMaster" Target="/ppt/notesMasters/notesMaster1.xml" Id="R21052d1b70f64a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cf8303174c42ac" /><Relationship Type="http://schemas.openxmlformats.org/officeDocument/2006/relationships/notesMaster" Target="/ppt/notesMasters/notesMaster1.xml" Id="R21dfdaf59b9a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9a96c96b314080" /><Relationship Type="http://schemas.openxmlformats.org/officeDocument/2006/relationships/notesMaster" Target="/ppt/notesMasters/notesMaster1.xml" Id="Refab8c5a123644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096753db5647e8" /><Relationship Type="http://schemas.openxmlformats.org/officeDocument/2006/relationships/notesMaster" Target="/ppt/notesMasters/notesMaster1.xml" Id="R425c1dec3cdb40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6a80e9cfc743b1" /><Relationship Type="http://schemas.openxmlformats.org/officeDocument/2006/relationships/notesMaster" Target="/ppt/notesMasters/notesMaster1.xml" Id="Reec5b1098b5a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Perkenalkan FamFinance sebagai sistem informasi keuangan keluarga berbasis web. Sebutkan bahwa aplikasi ini merupakan project akhir Web Programming II dan dikerjakan oleh empat anggota kelompok. Target waktu: 25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Jelaskan masalah utama: pencatatan keuangan keluarga sering tersebar sehingga saldo dan anggaran sulit dibaca bersama. FamFinance memusatkan data, menjaga transparansi, dan menyediakan audit perubahan. Ruang lingkupnya fokus pada kebutuhan inti keluarga kecil. Target waktu: 45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Ringkas solusi menjadi tiga kemampuan. Pertama, mencatat transaksi. Kedua, mengendalikan anggaran dan saldo. Ketiga, mengevaluasi kondisi keluarga melalui dashboard, laporan, filter, dan histori. Target waktu: 45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Jelaskan sequence penggunaan dalam tiga tahap. Siapkan data master terlebih dahulu. Setelah itu catat transaksi. Terakhir, pantau dashboard serta laporan dan keluar dengan aman. Urutan ini mencegah transaksi tanpa kategori atau dompet yang benar. Target waktu: 50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Tekankan bahwa transaksi hanya mempunyai dua status: Sukses dan Batal. Tidak ada Pending. Status Sukses memengaruhi saldo sesuai tipe transaksi, sedangkan Batal tetap tercatat tanpa dampak saldo. Perubahan dan penghapusan juga mengembalikan dampak saldo lama sebelum kondisi baru diterapkan. Target waktu: 45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Sampaikan bukti kualitas: 11 test dengan 145 assertion lulus. Sebanyak 41 file PHP lolos pemeriksaan sintaks dan 34 route aplikasi terdaftar. Dataset akhir memiliki 88 transaksi Sukses dan 2 Batal. Pengujian mencakup autentikasi, isolasi keluarga, saldo, histori, filter, laporan, dan build frontend. Target waktu: 60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Tutup dengan kesimpulan bahwa FamFinance menyatukan pencatatan, pengendalian, dan evaluasi keuangan keluarga dalam satu sistem. Aplikasi telah diuji dan siap digunakan sesuai ruang lingkup project. Ucapkan terima kasih. Target waktu: 30 detik.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31903a1ed44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aa9e326b6d49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2c705c5fee47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2760a9e22d4e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e3e75575c84a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3d661b5f6443b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298e24ab71745a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0c06a53da4e45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c67747486a940b9" /><Relationship Type="http://schemas.openxmlformats.org/officeDocument/2006/relationships/image" Target="/ppt/media/image.png" Id="R1d0000b87f68483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70eed7bfd054b40" /><Relationship Type="http://schemas.openxmlformats.org/officeDocument/2006/relationships/image" Target="/ppt/media/image2.png" Id="R82d4c2c7caed4c0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1d0000b87f68483b">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82d4c2c7caed4c0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c8cfe4a5494cc0" /><Relationship Type="http://schemas.openxmlformats.org/officeDocument/2006/relationships/slideLayout" Target="/ppt/slideLayouts/slideLayout1.xml" Id="Rc626893b0ffc4787" /><Relationship Type="http://schemas.openxmlformats.org/officeDocument/2006/relationships/slideLayout" Target="/ppt/slideLayouts/slideLayout2.xml" Id="Re804222255574978" /><Relationship Type="http://schemas.openxmlformats.org/officeDocument/2006/relationships/slideLayout" Target="/ppt/slideLayouts/slideLayout3.xml" Id="R14560eda9fda4866" /><Relationship Type="http://schemas.openxmlformats.org/officeDocument/2006/relationships/slideLayout" Target="/ppt/slideLayouts/slideLayout4.xml" Id="R579e12a562d94a9b" /><Relationship Type="http://schemas.openxmlformats.org/officeDocument/2006/relationships/slideLayout" Target="/ppt/slideLayouts/slideLayout5.xml" Id="R62dd4e25fd1f4bd7" /><Relationship Type="http://schemas.openxmlformats.org/officeDocument/2006/relationships/slideLayout" Target="/ppt/slideLayouts/slideLayout6.xml" Id="Refc537fddc434883" /><Relationship Type="http://schemas.openxmlformats.org/officeDocument/2006/relationships/slideLayout" Target="/ppt/slideLayouts/slideLayout7.xml" Id="R5706f13a94d54e6b" /><Relationship Type="http://schemas.openxmlformats.org/officeDocument/2006/relationships/slideLayout" Target="/ppt/slideLayouts/slideLayout8.xml" Id="Rf7ec76a17a0e49db" /><Relationship Type="http://schemas.openxmlformats.org/officeDocument/2006/relationships/slideLayout" Target="/ppt/slideLayouts/slideLayout9.xml" Id="Rab84a87af93b4e75" /><Relationship Type="http://schemas.openxmlformats.org/officeDocument/2006/relationships/slideLayout" Target="/ppt/slideLayouts/slideLayout10.xml" Id="Rac2c0c1121014dc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6893b0ffc4787"/>
    <p:sldLayoutId xmlns:r="http://schemas.openxmlformats.org/officeDocument/2006/relationships" id="2147483650" r:id="Re804222255574978"/>
    <p:sldLayoutId xmlns:r="http://schemas.openxmlformats.org/officeDocument/2006/relationships" id="2147483651" r:id="R14560eda9fda4866"/>
    <p:sldLayoutId xmlns:r="http://schemas.openxmlformats.org/officeDocument/2006/relationships" id="2147483652" r:id="R579e12a562d94a9b"/>
    <p:sldLayoutId xmlns:r="http://schemas.openxmlformats.org/officeDocument/2006/relationships" id="2147483653" r:id="R62dd4e25fd1f4bd7"/>
    <p:sldLayoutId xmlns:r="http://schemas.openxmlformats.org/officeDocument/2006/relationships" id="2147483654" r:id="Refc537fddc434883"/>
    <p:sldLayoutId xmlns:r="http://schemas.openxmlformats.org/officeDocument/2006/relationships" id="2147483655" r:id="R5706f13a94d54e6b"/>
    <p:sldLayoutId xmlns:r="http://schemas.openxmlformats.org/officeDocument/2006/relationships" id="2147483656" r:id="Rf7ec76a17a0e49db"/>
    <p:sldLayoutId xmlns:r="http://schemas.openxmlformats.org/officeDocument/2006/relationships" id="2147483657" r:id="Rab84a87af93b4e75"/>
    <p:sldLayoutId xmlns:r="http://schemas.openxmlformats.org/officeDocument/2006/relationships" id="2147483658" r:id="Rac2c0c1121014dc3"/>
  </p:sldLayoutIdLst>
  <p:hf hdr="0" dt="0"/>
  <p:txStyles>
    <p:titleStyle>
      <a:lvl1pPr xmlns:a="http://schemas.openxmlformats.org/drawingml/2006/main" algn="l">
        <a:lnSpc>
          <a:spcPct val="90000"/>
        </a:lnSpc>
        <a:spcBef>
          <a:spcPts val="0"/>
        </a:spcBef>
        <a:buNone/>
        <a:defRPr sz="29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02b2804ea94b26" /><Relationship Type="http://schemas.openxmlformats.org/officeDocument/2006/relationships/notesSlide" Target="/ppt/notesSlides/notesSlide1.xml" Id="R30d0b90c6ba945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28df233560b64070" /><Relationship Type="http://schemas.openxmlformats.org/officeDocument/2006/relationships/notesSlide" Target="/ppt/notesSlides/notesSlide2.xml" Id="Rb7c7444da08c40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cf310e05a828422d" /><Relationship Type="http://schemas.openxmlformats.org/officeDocument/2006/relationships/notesSlide" Target="/ppt/notesSlides/notesSlide3.xml" Id="R63b100f3c5d747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25161d45383344f4" /><Relationship Type="http://schemas.openxmlformats.org/officeDocument/2006/relationships/notesSlide" Target="/ppt/notesSlides/notesSlide4.xml" Id="Rfc293299087d48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90f9752b874427" /><Relationship Type="http://schemas.openxmlformats.org/officeDocument/2006/relationships/notesSlide" Target="/ppt/notesSlides/notesSlide5.xml" Id="R62d6d367143749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cc2e514f5346cc" /><Relationship Type="http://schemas.openxmlformats.org/officeDocument/2006/relationships/notesSlide" Target="/ppt/notesSlides/notesSlide6.xml" Id="R973d93cddfab4a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ef65d766884fb7" /><Relationship Type="http://schemas.openxmlformats.org/officeDocument/2006/relationships/notesSlide" Target="/ppt/notesSlides/notesSlide7.xml" Id="R7d69493f54ce4ca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8BFE633A-551A-54B1-5F36-B66CCEBD8D53}"/>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b="1">
                <a:solidFill>
                  <a:srgbClr val="00A878"/>
                </a:solidFill>
                <a:latin typeface="Helvetica Neue"/>
                <a:ea typeface="Helvetica Neue"/>
                <a:cs typeface="Helvetica Neue"/>
              </a:rPr>
              <a:t>FamFinance</a:t>
            </a:r>
            <a:r>
              <a:rPr sz="7200" b="1">
                <a:solidFill>
                  <a:srgbClr val="101828"/>
                </a:solidFill>
                <a:latin typeface="Helvetica Neue"/>
                <a:ea typeface="Helvetica Neue"/>
                <a:cs typeface="Helvetica Neue"/>
              </a:rPr>
              <a:t>
Keuangan Keluarga</a:t>
            </a:r>
          </a:p>
        </p:txBody>
      </p:sp>
      <p:sp>
        <p:nvSpPr>
          <p:cNvPr id="5" name="Subtitle 4">
            <a:extLst xmlns:a="http://schemas.openxmlformats.org/drawingml/2006/main">
              <a:ext uri="{FF2B5EF4-FFF2-40B4-BE49-F238E27FC236}">
                <a16:creationId xmlns:a16="http://schemas.microsoft.com/office/drawing/2014/main" id="{5FD18192-DA46-5723-C973-8A30A162A3C1}"/>
              </a:ext>
            </a:extLst>
          </p:cNvPr>
          <p:cNvSpPr>
            <a:spLocks xmlns:a="http://schemas.openxmlformats.org/drawingml/2006/main" noGrp="1"/>
          </p:cNvSpPr>
          <p:nvPr>
            <p:ph type="subTitle" idx="1"/>
          </p:nvPr>
        </p:nvSpPr>
        <p:spPr>
          <a:xfrm xmlns:a="http://schemas.openxmlformats.org/drawingml/2006/main">
            <a:off x="393700" y="4789429"/>
            <a:ext cx="3568700" cy="1218417"/>
          </a:xfrm>
        </p:spPr>
        <p:txBody>
          <a:bodyPr xmlns:a="http://schemas.openxmlformats.org/drawingml/2006/main">
            <a:noAutofit/>
          </a:bodyPr>
          <a:lstStyle xmlns:a="http://schemas.openxmlformats.org/drawingml/2006/main"/>
          <a:p xmlns:a="http://schemas.openxmlformats.org/drawingml/2006/main">
            <a:r>
              <a:rPr sz="2000">
                <a:solidFill>
                  <a:srgbClr val="101828"/>
                </a:solidFill>
                <a:latin typeface="Helvetica Neue"/>
                <a:ea typeface="Helvetica Neue"/>
                <a:cs typeface="Helvetica Neue"/>
              </a:rPr>
              <a:t>Project Akhir Web Programming II</a:t>
            </a:r>
          </a:p>
          <a:p xmlns:a="http://schemas.openxmlformats.org/drawingml/2006/main">
            <a:r>
              <a:rPr sz="2000">
                <a:solidFill>
                  <a:srgbClr val="101828"/>
                </a:solidFill>
                <a:latin typeface="Helvetica Neue"/>
                <a:ea typeface="Helvetica Neue"/>
                <a:cs typeface="Helvetica Neue"/>
              </a:rPr>
              <a:t>Yosia Christian • Zidan Marzianda</a:t>
            </a:r>
          </a:p>
          <a:p xmlns:a="http://schemas.openxmlformats.org/drawingml/2006/main">
            <a:r>
              <a:rPr sz="2000">
                <a:solidFill>
                  <a:srgbClr val="101828"/>
                </a:solidFill>
                <a:latin typeface="Helvetica Neue"/>
                <a:ea typeface="Helvetica Neue"/>
                <a:cs typeface="Helvetica Neue"/>
              </a:rPr>
              <a:t>Abdul Rofi’i • Deswara Tohari</a:t>
            </a:r>
          </a:p>
        </p:txBody>
      </p:sp>
      <p:sp>
        <p:nvSpPr>
          <p:cNvPr id="6" name="Subtitle 4">
            <a:extLst xmlns:a="http://schemas.openxmlformats.org/drawingml/2006/main">
              <a:ext uri="{FF2B5EF4-FFF2-40B4-BE49-F238E27FC236}">
                <a16:creationId xmlns:a16="http://schemas.microsoft.com/office/drawing/2014/main" id="{38267A14-2A60-F4BB-37BE-E21D050F53D8}"/>
              </a:ext>
            </a:extLst>
          </p:cNvPr>
          <p:cNvSpPr>
            <a:spLocks xmlns:a="http://schemas.openxmlformats.org/drawingml/2006/main" noGrp="1"/>
          </p:cNvSpPr>
          <p:nvPr/>
        </p:nvSpPr>
        <p:spPr>
          <a:xfrm xmlns:a="http://schemas.openxmlformats.org/drawingml/2006/main">
            <a:off x="393699" y="392241"/>
            <a:ext cx="3578411"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defRPr sz="1800" b="1">
                <a:solidFill>
                  <a:srgbClr val="007A55"/>
                </a:solidFill>
                <a:latin typeface="Helvetica Neue"/>
                <a:ea typeface="Helvetica Neue"/>
                <a:cs typeface="Helvetica Neue"/>
              </a:defRPr>
            </a:pPr>
            <a:r>
              <a:rPr sz="1800" b="1">
                <a:solidFill>
                  <a:srgbClr val="007A55"/>
                </a:solidFill>
                <a:latin typeface="Helvetica Neue"/>
                <a:ea typeface="Helvetica Neue"/>
                <a:cs typeface="Helvetica Neue"/>
              </a:rPr>
              <a:t>FAMFINANCE</a:t>
            </a:r>
          </a:p>
        </p:txBody>
      </p:sp>
      <p:sp>
        <p:nvSpPr>
          <p:cNvPr id="8" name="Subtitle 4">
            <a:extLst xmlns:a="http://schemas.openxmlformats.org/drawingml/2006/main">
              <a:ext uri="{FF2B5EF4-FFF2-40B4-BE49-F238E27FC236}">
                <a16:creationId xmlns:a16="http://schemas.microsoft.com/office/drawing/2014/main" id="{7A9AD72C-F254-8F77-B9BB-AA0D9A0210D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xmlns:a="http://schemas.openxmlformats.org/drawingml/2006/main">
            <a:pPr algn="r">
              <a:buNone/>
              <a:defRPr sz="1800" b="1">
                <a:solidFill>
                  <a:srgbClr val="475467"/>
                </a:solidFill>
                <a:latin typeface="Helvetica Neue"/>
                <a:ea typeface="Helvetica Neue"/>
                <a:cs typeface="Helvetica Neue"/>
              </a:defRPr>
            </a:pPr>
            <a:r>
              <a:rPr sz="1800" b="1">
                <a:solidFill>
                  <a:srgbClr val="475467"/>
                </a:solidFill>
                <a:latin typeface="Helvetica Neue"/>
                <a:ea typeface="Helvetica Neue"/>
                <a:cs typeface="Helvetica Neue"/>
              </a:rPr>
              <a:t>PRESENTASI 5 MENIT • 2026</a:t>
            </a:r>
          </a:p>
        </p:txBody>
      </p:sp>
    </p:spTree>
    <p:extLst>
      <p:ext uri="{BB962C8B-B14F-4D97-AF65-F5344CB8AC3E}">
        <p14:creationId xmlns:p14="http://schemas.microsoft.com/office/powerpoint/2010/main" val="5632416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5E6F3576-FAD9-7780-1390-E4CCDDDDF4C8}"/>
              </a:ext>
            </a:extLst>
          </p:cNvPr>
          <p:cNvSpPr>
            <a:spLocks xmlns:a="http://schemas.openxmlformats.org/drawingml/2006/main" noGrp="1"/>
          </p:cNvSpPr>
          <p:nvPr>
            <p:ph idx="1"/>
          </p:nvPr>
        </p:nvSpPr>
        <p:spPr>
          <a:xfrm xmlns:a="http://schemas.openxmlformats.org/drawingml/2006/main">
            <a:off x="393700" y="2391832"/>
            <a:ext cx="3568700" cy="360256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01</a:t>
            </a:r>
          </a:p>
          <a:p xmlns:a="http://schemas.openxmlformats.org/drawingml/2006/main">
            <a:pPr>
              <a:spcAft>
                <a:spcPts val="650"/>
              </a:spcAft>
            </a:pPr>
            <a:r>
              <a:rPr sz="1800" b="1">
                <a:solidFill>
                  <a:srgbClr val="101828"/>
                </a:solidFill>
                <a:latin typeface="Helvetica Neue"/>
                <a:ea typeface="Helvetica Neue"/>
                <a:cs typeface="Helvetica Neue"/>
              </a:rPr>
              <a:t>Masalah</a:t>
            </a:r>
          </a:p>
          <a:p xmlns:a="http://schemas.openxmlformats.org/drawingml/2006/main">
            <a:pPr>
              <a:spcAft>
                <a:spcPts val="850"/>
              </a:spcAft>
            </a:pPr>
            <a:r>
              <a:rPr sz="1600">
                <a:solidFill>
                  <a:srgbClr val="475467"/>
                </a:solidFill>
                <a:latin typeface="Helvetica Neue"/>
                <a:ea typeface="Helvetica Neue"/>
                <a:cs typeface="Helvetica Neue"/>
              </a:rPr>
              <a:t>Catatan yang tersebar membuat saldo, transaksi, dan anggaran sulit dipantau bersama.</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Data tidak terpusat</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Rekonsiliasi lambat</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Transparansi minim</a:t>
            </a:r>
          </a:p>
        </p:txBody>
      </p:sp>
      <p:sp>
        <p:nvSpPr>
          <p:cNvPr id="532" name="Google Shape;532;p58">
            <a:extLst xmlns:a="http://schemas.openxmlformats.org/drawingml/2006/main">
              <a:ext uri="{FF2B5EF4-FFF2-40B4-BE49-F238E27FC236}">
                <a16:creationId xmlns:a16="http://schemas.microsoft.com/office/drawing/2014/main" id="{DBEA618B-866F-6F23-43A9-78F2D3127872}"/>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E2598689-54C9-18A7-3A19-ED76AA08988F}" type="slidenum">
              <a:rPr sz="1100">
                <a:solidFill>
                  <a:srgbClr val="475467"/>
                </a:solidFill>
                <a:latin typeface="Helvetica Neue"/>
                <a:ea typeface="Helvetica Neue"/>
                <a:cs typeface="Helvetica Neue"/>
              </a:rPr>
              <a:t>2</a:t>
            </a:fld>
          </a:p>
        </p:txBody>
      </p:sp>
      <p:sp>
        <p:nvSpPr>
          <p:cNvPr id="2" name="Content Placeholder 1">
            <a:extLst xmlns:a="http://schemas.openxmlformats.org/drawingml/2006/main">
              <a:ext uri="{FF2B5EF4-FFF2-40B4-BE49-F238E27FC236}">
                <a16:creationId xmlns:a16="http://schemas.microsoft.com/office/drawing/2014/main" id="{7ED2788F-D3A7-1987-7296-9AC0BE2A1D11}"/>
              </a:ext>
            </a:extLst>
          </p:cNvPr>
          <p:cNvSpPr>
            <a:spLocks xmlns:a="http://schemas.openxmlformats.org/drawingml/2006/main" noGrp="1"/>
          </p:cNvSpPr>
          <p:nvPr>
            <p:ph idx="10"/>
          </p:nvPr>
        </p:nvSpPr>
        <p:spPr>
          <a:xfrm xmlns:a="http://schemas.openxmlformats.org/drawingml/2006/main">
            <a:off x="4318000" y="2374900"/>
            <a:ext cx="3568700" cy="3619500"/>
          </a:xfrm>
        </p:spPr>
        <p:txBody>
          <a:bodyPr xmlns:a="http://schemas.openxmlformats.org/drawingml/2006/main">
            <a:normAutofit fontScale="100000"/>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02</a:t>
            </a:r>
          </a:p>
          <a:p xmlns:a="http://schemas.openxmlformats.org/drawingml/2006/main">
            <a:pPr>
              <a:spcAft>
                <a:spcPts val="650"/>
              </a:spcAft>
            </a:pPr>
            <a:r>
              <a:rPr sz="1800" b="1">
                <a:solidFill>
                  <a:srgbClr val="101828"/>
                </a:solidFill>
                <a:latin typeface="Helvetica Neue"/>
                <a:ea typeface="Helvetica Neue"/>
                <a:cs typeface="Helvetica Neue"/>
              </a:rPr>
              <a:t>Tujuan</a:t>
            </a:r>
          </a:p>
          <a:p xmlns:a="http://schemas.openxmlformats.org/drawingml/2006/main">
            <a:pPr>
              <a:spcAft>
                <a:spcPts val="850"/>
              </a:spcAft>
            </a:pPr>
            <a:r>
              <a:rPr sz="1600">
                <a:solidFill>
                  <a:srgbClr val="475467"/>
                </a:solidFill>
                <a:latin typeface="Helvetica Neue"/>
                <a:ea typeface="Helvetica Neue"/>
                <a:cs typeface="Helvetica Neue"/>
              </a:rPr>
              <a:t>Memusatkan keuangan keluarga dalam satu aplikasi yang aman dan mudah ditinjau.</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Saldo dan cashflow</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Anggaran bulanan</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Audit perubahan</a:t>
            </a:r>
          </a:p>
        </p:txBody>
      </p:sp>
      <p:sp>
        <p:nvSpPr>
          <p:cNvPr id="3" name="Content Placeholder 2">
            <a:extLst xmlns:a="http://schemas.openxmlformats.org/drawingml/2006/main">
              <a:ext uri="{FF2B5EF4-FFF2-40B4-BE49-F238E27FC236}">
                <a16:creationId xmlns:a16="http://schemas.microsoft.com/office/drawing/2014/main" id="{0AB3D00A-6146-FC12-E7D6-0A4E6D490B4A}"/>
              </a:ext>
            </a:extLst>
          </p:cNvPr>
          <p:cNvSpPr>
            <a:spLocks xmlns:a="http://schemas.openxmlformats.org/drawingml/2006/main" noGrp="1"/>
          </p:cNvSpPr>
          <p:nvPr>
            <p:ph idx="11"/>
          </p:nvPr>
        </p:nvSpPr>
        <p:spPr>
          <a:xfrm xmlns:a="http://schemas.openxmlformats.org/drawingml/2006/main">
            <a:off x="8232273" y="2374900"/>
            <a:ext cx="3568700" cy="3619500"/>
          </a:xfrm>
        </p:spPr>
        <p:txBody>
          <a:bodyPr xmlns:a="http://schemas.openxmlformats.org/drawingml/2006/main">
            <a:normAutofit fontScale="100000"/>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03</a:t>
            </a:r>
          </a:p>
          <a:p xmlns:a="http://schemas.openxmlformats.org/drawingml/2006/main">
            <a:pPr>
              <a:spcAft>
                <a:spcPts val="650"/>
              </a:spcAft>
            </a:pPr>
            <a:r>
              <a:rPr sz="1800" b="1">
                <a:solidFill>
                  <a:srgbClr val="101828"/>
                </a:solidFill>
                <a:latin typeface="Helvetica Neue"/>
                <a:ea typeface="Helvetica Neue"/>
                <a:cs typeface="Helvetica Neue"/>
              </a:rPr>
              <a:t>Ruang Lingkup</a:t>
            </a:r>
          </a:p>
          <a:p xmlns:a="http://schemas.openxmlformats.org/drawingml/2006/main">
            <a:pPr>
              <a:spcAft>
                <a:spcPts val="850"/>
              </a:spcAft>
            </a:pPr>
            <a:r>
              <a:rPr sz="1600">
                <a:solidFill>
                  <a:srgbClr val="475467"/>
                </a:solidFill>
                <a:latin typeface="Helvetica Neue"/>
                <a:ea typeface="Helvetica Neue"/>
                <a:cs typeface="Helvetica Neue"/>
              </a:rPr>
              <a:t>Autentikasi, dashboard, transaksi, kategori, dompet, anggaran, anggota, dan laporan.</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Laravel dan Blade</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Data per keluarga</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Web responsif</a:t>
            </a:r>
          </a:p>
        </p:txBody>
      </p:sp>
      <p:sp>
        <p:nvSpPr>
          <p:cNvPr id="533" name="Google Shape;533;p58">
            <a:extLst xmlns:a="http://schemas.openxmlformats.org/drawingml/2006/main">
              <a:ext uri="{FF2B5EF4-FFF2-40B4-BE49-F238E27FC236}">
                <a16:creationId xmlns:a16="http://schemas.microsoft.com/office/drawing/2014/main" id="{24C70FFE-9D4B-9EEB-4231-9B1B74B40AF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b="1">
                <a:solidFill>
                  <a:srgbClr val="101828"/>
                </a:solidFill>
                <a:latin typeface="Helvetica Neue"/>
                <a:ea typeface="Helvetica Neue"/>
                <a:cs typeface="Helvetica Neue"/>
              </a:defRPr>
            </a:pPr>
            <a:r>
              <a:rPr sz="2900" b="1">
                <a:solidFill>
                  <a:srgbClr val="101828"/>
                </a:solidFill>
                <a:latin typeface="Helvetica Neue"/>
                <a:ea typeface="Helvetica Neue"/>
                <a:cs typeface="Helvetica Neue"/>
              </a:rPr>
              <a:t>Mengapa FamFinance dibangun?</a:t>
            </a:r>
          </a:p>
        </p:txBody>
      </p:sp>
    </p:spTree>
    <p:extLst>
      <p:ext uri="{BB962C8B-B14F-4D97-AF65-F5344CB8AC3E}">
        <p14:creationId xmlns:p14="http://schemas.microsoft.com/office/powerpoint/2010/main" val="29661716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37480844-4900-48C8-8A2A-C82C89AD89DB}"/>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1900" b="1">
                <a:solidFill>
                  <a:srgbClr val="007A55"/>
                </a:solidFill>
                <a:latin typeface="Helvetica Neue"/>
                <a:ea typeface="Helvetica Neue"/>
                <a:cs typeface="Helvetica Neue"/>
              </a:rPr>
              <a:t>Catat</a:t>
            </a:r>
            <a:r>
              <a:rPr sz="1900">
                <a:solidFill>
                  <a:srgbClr val="101828"/>
                </a:solidFill>
                <a:latin typeface="Helvetica Neue"/>
                <a:ea typeface="Helvetica Neue"/>
                <a:cs typeface="Helvetica Neue"/>
              </a:rPr>
              <a:t>
Pemasukan dan pengeluaran terhubung langsung ke kategori serta dompet.</a:t>
            </a:r>
          </a:p>
        </p:txBody>
      </p:sp>
      <p:sp>
        <p:nvSpPr>
          <p:cNvPr id="556" name="Google Shape;556;p61">
            <a:extLst xmlns:a="http://schemas.openxmlformats.org/drawingml/2006/main">
              <a:ext uri="{FF2B5EF4-FFF2-40B4-BE49-F238E27FC236}">
                <a16:creationId xmlns:a16="http://schemas.microsoft.com/office/drawing/2014/main" id="{D1A01C59-420C-4773-82CA-800574442D3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202359C0-8A7A-196E-DD58-8E6569619F09}" type="slidenum">
              <a:rPr sz="1100">
                <a:solidFill>
                  <a:srgbClr val="475467"/>
                </a:solidFill>
                <a:latin typeface="Helvetica Neue"/>
                <a:ea typeface="Helvetica Neue"/>
                <a:cs typeface="Helvetica Neue"/>
              </a:rPr>
              <a:t>3</a:t>
            </a:fld>
          </a:p>
        </p:txBody>
      </p:sp>
      <p:sp>
        <p:nvSpPr>
          <p:cNvPr id="559" name="Google Shape;559;p61">
            <a:extLst xmlns:a="http://schemas.openxmlformats.org/drawingml/2006/main">
              <a:ext uri="{FF2B5EF4-FFF2-40B4-BE49-F238E27FC236}">
                <a16:creationId xmlns:a16="http://schemas.microsoft.com/office/drawing/2014/main" id="{2868834F-9BDA-436C-BF0D-5F4581CF9D6A}"/>
              </a:ext>
            </a:extLst>
          </p:cNvPr>
          <p:cNvSpPr>
            <a:spLocks xmlns:a="http://schemas.openxmlformats.org/drawingml/2006/main" noGrp="1"/>
          </p:cNvSpPr>
          <p:nvPr>
            <p:ph idx="10"/>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1900" b="1">
                <a:solidFill>
                  <a:srgbClr val="007A55"/>
                </a:solidFill>
                <a:latin typeface="Helvetica Neue"/>
                <a:ea typeface="Helvetica Neue"/>
                <a:cs typeface="Helvetica Neue"/>
              </a:rPr>
              <a:t>Kendalikan</a:t>
            </a:r>
            <a:r>
              <a:rPr sz="1900">
                <a:solidFill>
                  <a:srgbClr val="101828"/>
                </a:solidFill>
                <a:latin typeface="Helvetica Neue"/>
                <a:ea typeface="Helvetica Neue"/>
                <a:cs typeface="Helvetica Neue"/>
              </a:rPr>
              <a:t>
Anggaran bulanan dan saldo dompet membantu keluarga menjaga batas belanja.</a:t>
            </a:r>
          </a:p>
        </p:txBody>
      </p:sp>
      <p:sp>
        <p:nvSpPr>
          <p:cNvPr id="560" name="Google Shape;560;p61">
            <a:extLst xmlns:a="http://schemas.openxmlformats.org/drawingml/2006/main">
              <a:ext uri="{FF2B5EF4-FFF2-40B4-BE49-F238E27FC236}">
                <a16:creationId xmlns:a16="http://schemas.microsoft.com/office/drawing/2014/main" id="{A0D53CB9-6E04-44ED-B3DD-4DCD3B524BDF}"/>
              </a:ext>
            </a:extLst>
          </p:cNvPr>
          <p:cNvSpPr>
            <a:spLocks xmlns:a="http://schemas.openxmlformats.org/drawingml/2006/main" noGrp="1"/>
          </p:cNvSpPr>
          <p:nvPr>
            <p:ph idx="11"/>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1900" b="1">
                <a:solidFill>
                  <a:srgbClr val="007A55"/>
                </a:solidFill>
                <a:latin typeface="Helvetica Neue"/>
                <a:ea typeface="Helvetica Neue"/>
                <a:cs typeface="Helvetica Neue"/>
              </a:rPr>
              <a:t>Evaluasi</a:t>
            </a:r>
            <a:r>
              <a:rPr sz="1900">
                <a:solidFill>
                  <a:srgbClr val="101828"/>
                </a:solidFill>
                <a:latin typeface="Helvetica Neue"/>
                <a:ea typeface="Helvetica Neue"/>
                <a:cs typeface="Helvetica Neue"/>
              </a:rPr>
              <a:t>
Dashboard, laporan, filter, dan histori memberi gambaran yang dapat ditelusuri.</a:t>
            </a:r>
          </a:p>
        </p:txBody>
      </p:sp>
      <p:sp>
        <p:nvSpPr>
          <p:cNvPr id="557" name="Google Shape;557;p61">
            <a:extLst xmlns:a="http://schemas.openxmlformats.org/drawingml/2006/main">
              <a:ext uri="{FF2B5EF4-FFF2-40B4-BE49-F238E27FC236}">
                <a16:creationId xmlns:a16="http://schemas.microsoft.com/office/drawing/2014/main" id="{5D3530BE-1D02-478C-9CB2-04960794B42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b="1">
                <a:solidFill>
                  <a:srgbClr val="101828"/>
                </a:solidFill>
                <a:latin typeface="Helvetica Neue"/>
                <a:ea typeface="Helvetica Neue"/>
                <a:cs typeface="Helvetica Neue"/>
              </a:defRPr>
            </a:pPr>
            <a:r>
              <a:rPr sz="2900" b="1">
                <a:solidFill>
                  <a:srgbClr val="101828"/>
                </a:solidFill>
                <a:latin typeface="Helvetica Neue"/>
                <a:ea typeface="Helvetica Neue"/>
                <a:cs typeface="Helvetica Neue"/>
              </a:rPr>
              <a:t>Tiga kemampuan utama</a:t>
            </a:r>
          </a:p>
        </p:txBody>
      </p:sp>
      <p:sp>
        <p:nvSpPr>
          <p:cNvPr id="561" name="Google Shape;561;p61">
            <a:extLst xmlns:a="http://schemas.openxmlformats.org/drawingml/2006/main">
              <a:ext uri="{FF2B5EF4-FFF2-40B4-BE49-F238E27FC236}">
                <a16:creationId xmlns:a16="http://schemas.microsoft.com/office/drawing/2014/main" id="{A6D76C4C-A264-4256-ACE5-B08DF83EB89F}"/>
              </a:ext>
            </a:extLst>
          </p:cNvPr>
          <p:cNvSpPr>
            <a:spLocks xmlns:a="http://schemas.openxmlformats.org/drawingml/2006/main" noGrp="1"/>
          </p:cNvSpPr>
          <p:nvPr/>
        </p:nvSpPr>
        <p:spPr>
          <a:xfrm xmlns:a="http://schemas.openxmlformats.org/drawingml/2006/main">
            <a:off x="4279904" y="3433102"/>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A878"/>
          </a:solidFill>
          <a:ln xmlns:a="http://schemas.openxmlformats.org/drawingml/2006/main" w="9525">
            <a:solidFill>
              <a:srgbClr val="007A55"/>
            </a:solidFill>
            <a:prstDash val="solid"/>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2" name="Google Shape;562;p61">
            <a:extLst xmlns:a="http://schemas.openxmlformats.org/drawingml/2006/main">
              <a:ext uri="{FF2B5EF4-FFF2-40B4-BE49-F238E27FC236}">
                <a16:creationId xmlns:a16="http://schemas.microsoft.com/office/drawing/2014/main" id="{76068438-B0E9-4F31-BF6F-230113161397}"/>
              </a:ext>
            </a:extLst>
          </p:cNvPr>
          <p:cNvSpPr>
            <a:spLocks xmlns:a="http://schemas.openxmlformats.org/drawingml/2006/main" noGrp="1"/>
          </p:cNvSpPr>
          <p:nvPr/>
        </p:nvSpPr>
        <p:spPr>
          <a:xfrm xmlns:a="http://schemas.openxmlformats.org/drawingml/2006/main">
            <a:off x="333666" y="3429011"/>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A878"/>
          </a:solidFill>
          <a:ln xmlns:a="http://schemas.openxmlformats.org/drawingml/2006/main" w="9525">
            <a:solidFill>
              <a:srgbClr val="007A55"/>
            </a:solidFill>
            <a:prstDash val="solid"/>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3" name="Google Shape;563;p61">
            <a:extLst xmlns:a="http://schemas.openxmlformats.org/drawingml/2006/main">
              <a:ext uri="{FF2B5EF4-FFF2-40B4-BE49-F238E27FC236}">
                <a16:creationId xmlns:a16="http://schemas.microsoft.com/office/drawing/2014/main" id="{0882BEE1-5286-4836-9EFF-78119BF951A5}"/>
              </a:ext>
            </a:extLst>
          </p:cNvPr>
          <p:cNvSpPr>
            <a:spLocks xmlns:a="http://schemas.openxmlformats.org/drawingml/2006/main" noGrp="1"/>
          </p:cNvSpPr>
          <p:nvPr/>
        </p:nvSpPr>
        <p:spPr>
          <a:xfrm xmlns:a="http://schemas.openxmlformats.org/drawingml/2006/main">
            <a:off x="8214664" y="3474581"/>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rgbClr val="00A878"/>
          </a:solidFill>
          <a:ln xmlns:a="http://schemas.openxmlformats.org/drawingml/2006/main" w="9525">
            <a:solidFill>
              <a:srgbClr val="007A55"/>
            </a:solidFill>
            <a:prstDash val="solid"/>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2203487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5E6F3576-FAD9-7780-1390-E4CCDDDDF4C8}"/>
              </a:ext>
            </a:extLst>
          </p:cNvPr>
          <p:cNvSpPr>
            <a:spLocks xmlns:a="http://schemas.openxmlformats.org/drawingml/2006/main" noGrp="1"/>
          </p:cNvSpPr>
          <p:nvPr>
            <p:ph idx="1"/>
          </p:nvPr>
        </p:nvSpPr>
        <p:spPr>
          <a:xfrm xmlns:a="http://schemas.openxmlformats.org/drawingml/2006/main">
            <a:off x="393700" y="2391832"/>
            <a:ext cx="3568700" cy="360256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01</a:t>
            </a:r>
          </a:p>
          <a:p xmlns:a="http://schemas.openxmlformats.org/drawingml/2006/main">
            <a:pPr>
              <a:spcAft>
                <a:spcPts val="650"/>
              </a:spcAft>
            </a:pPr>
            <a:r>
              <a:rPr sz="1800" b="1">
                <a:solidFill>
                  <a:srgbClr val="101828"/>
                </a:solidFill>
                <a:latin typeface="Helvetica Neue"/>
                <a:ea typeface="Helvetica Neue"/>
                <a:cs typeface="Helvetica Neue"/>
              </a:rPr>
              <a:t>Siapkan Data</a:t>
            </a:r>
          </a:p>
          <a:p xmlns:a="http://schemas.openxmlformats.org/drawingml/2006/main">
            <a:pPr>
              <a:spcAft>
                <a:spcPts val="850"/>
              </a:spcAft>
            </a:pPr>
            <a:r>
              <a:rPr sz="1600">
                <a:solidFill>
                  <a:srgbClr val="475467"/>
                </a:solidFill>
                <a:latin typeface="Helvetica Neue"/>
                <a:ea typeface="Helvetica Neue"/>
                <a:cs typeface="Helvetica Neue"/>
              </a:rPr>
              <a:t>Daftarkan keluarga, masuk, lalu atur kategori, dompet, anggota, dan anggaran.</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Registrasi atau login</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Kategori dan dompet</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Anggaran</a:t>
            </a:r>
          </a:p>
        </p:txBody>
      </p:sp>
      <p:sp>
        <p:nvSpPr>
          <p:cNvPr id="532" name="Google Shape;532;p58">
            <a:extLst xmlns:a="http://schemas.openxmlformats.org/drawingml/2006/main">
              <a:ext uri="{FF2B5EF4-FFF2-40B4-BE49-F238E27FC236}">
                <a16:creationId xmlns:a16="http://schemas.microsoft.com/office/drawing/2014/main" id="{DBEA618B-866F-6F23-43A9-78F2D3127872}"/>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EFD6AB9A-5F9E-5F59-51AB-3C8734130965}" type="slidenum">
              <a:rPr sz="1100">
                <a:solidFill>
                  <a:srgbClr val="475467"/>
                </a:solidFill>
                <a:latin typeface="Helvetica Neue"/>
                <a:ea typeface="Helvetica Neue"/>
                <a:cs typeface="Helvetica Neue"/>
              </a:rPr>
              <a:t>4</a:t>
            </a:fld>
          </a:p>
        </p:txBody>
      </p:sp>
      <p:sp>
        <p:nvSpPr>
          <p:cNvPr id="2" name="Content Placeholder 1">
            <a:extLst xmlns:a="http://schemas.openxmlformats.org/drawingml/2006/main">
              <a:ext uri="{FF2B5EF4-FFF2-40B4-BE49-F238E27FC236}">
                <a16:creationId xmlns:a16="http://schemas.microsoft.com/office/drawing/2014/main" id="{7ED2788F-D3A7-1987-7296-9AC0BE2A1D11}"/>
              </a:ext>
            </a:extLst>
          </p:cNvPr>
          <p:cNvSpPr>
            <a:spLocks xmlns:a="http://schemas.openxmlformats.org/drawingml/2006/main" noGrp="1"/>
          </p:cNvSpPr>
          <p:nvPr>
            <p:ph idx="10"/>
          </p:nvPr>
        </p:nvSpPr>
        <p:spPr>
          <a:xfrm xmlns:a="http://schemas.openxmlformats.org/drawingml/2006/main">
            <a:off x="4318000" y="2374900"/>
            <a:ext cx="3568700" cy="3619500"/>
          </a:xfrm>
        </p:spPr>
        <p:txBody>
          <a:bodyPr xmlns:a="http://schemas.openxmlformats.org/drawingml/2006/main">
            <a:normAutofit fontScale="100000"/>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02</a:t>
            </a:r>
          </a:p>
          <a:p xmlns:a="http://schemas.openxmlformats.org/drawingml/2006/main">
            <a:pPr>
              <a:spcAft>
                <a:spcPts val="650"/>
              </a:spcAft>
            </a:pPr>
            <a:r>
              <a:rPr sz="1800" b="1">
                <a:solidFill>
                  <a:srgbClr val="101828"/>
                </a:solidFill>
                <a:latin typeface="Helvetica Neue"/>
                <a:ea typeface="Helvetica Neue"/>
                <a:cs typeface="Helvetica Neue"/>
              </a:rPr>
              <a:t>Catat Transaksi</a:t>
            </a:r>
          </a:p>
          <a:p xmlns:a="http://schemas.openxmlformats.org/drawingml/2006/main">
            <a:pPr>
              <a:spcAft>
                <a:spcPts val="850"/>
              </a:spcAft>
            </a:pPr>
            <a:r>
              <a:rPr sz="1600">
                <a:solidFill>
                  <a:srgbClr val="475467"/>
                </a:solidFill>
                <a:latin typeface="Helvetica Neue"/>
                <a:ea typeface="Helvetica Neue"/>
                <a:cs typeface="Helvetica Neue"/>
              </a:rPr>
              <a:t>Masukkan tipe, kategori, dompet, nominal, tanggal, metode, dan status.</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Sukses atau Batal</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Saldo otomatis</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Histori tersimpan</a:t>
            </a:r>
          </a:p>
        </p:txBody>
      </p:sp>
      <p:sp>
        <p:nvSpPr>
          <p:cNvPr id="3" name="Content Placeholder 2">
            <a:extLst xmlns:a="http://schemas.openxmlformats.org/drawingml/2006/main">
              <a:ext uri="{FF2B5EF4-FFF2-40B4-BE49-F238E27FC236}">
                <a16:creationId xmlns:a16="http://schemas.microsoft.com/office/drawing/2014/main" id="{0AB3D00A-6146-FC12-E7D6-0A4E6D490B4A}"/>
              </a:ext>
            </a:extLst>
          </p:cNvPr>
          <p:cNvSpPr>
            <a:spLocks xmlns:a="http://schemas.openxmlformats.org/drawingml/2006/main" noGrp="1"/>
          </p:cNvSpPr>
          <p:nvPr>
            <p:ph idx="11"/>
          </p:nvPr>
        </p:nvSpPr>
        <p:spPr>
          <a:xfrm xmlns:a="http://schemas.openxmlformats.org/drawingml/2006/main">
            <a:off x="8232273" y="2374900"/>
            <a:ext cx="3568700" cy="3619500"/>
          </a:xfrm>
        </p:spPr>
        <p:txBody>
          <a:bodyPr xmlns:a="http://schemas.openxmlformats.org/drawingml/2006/main">
            <a:normAutofit fontScale="100000"/>
          </a:bodyPr>
          <a:lstStyle xmlns:a="http://schemas.openxmlformats.org/drawingml/2006/main"/>
          <a:p xmlns:a="http://schemas.openxmlformats.org/drawingml/2006/main">
            <a:pPr>
              <a:spcAft>
                <a:spcPts val="700"/>
              </a:spcAft>
            </a:pPr>
            <a:r>
              <a:rPr sz="1800" b="1">
                <a:solidFill>
                  <a:srgbClr val="007A55"/>
                </a:solidFill>
                <a:latin typeface="Helvetica Neue"/>
                <a:ea typeface="Helvetica Neue"/>
                <a:cs typeface="Helvetica Neue"/>
              </a:rPr>
              <a:t>03</a:t>
            </a:r>
          </a:p>
          <a:p xmlns:a="http://schemas.openxmlformats.org/drawingml/2006/main">
            <a:pPr>
              <a:spcAft>
                <a:spcPts val="650"/>
              </a:spcAft>
            </a:pPr>
            <a:r>
              <a:rPr sz="1800" b="1">
                <a:solidFill>
                  <a:srgbClr val="101828"/>
                </a:solidFill>
                <a:latin typeface="Helvetica Neue"/>
                <a:ea typeface="Helvetica Neue"/>
                <a:cs typeface="Helvetica Neue"/>
              </a:rPr>
              <a:t>Pantau &amp; Evaluasi</a:t>
            </a:r>
          </a:p>
          <a:p xmlns:a="http://schemas.openxmlformats.org/drawingml/2006/main">
            <a:pPr>
              <a:spcAft>
                <a:spcPts val="850"/>
              </a:spcAft>
            </a:pPr>
            <a:r>
              <a:rPr sz="1600">
                <a:solidFill>
                  <a:srgbClr val="475467"/>
                </a:solidFill>
                <a:latin typeface="Helvetica Neue"/>
                <a:ea typeface="Helvetica Neue"/>
                <a:cs typeface="Helvetica Neue"/>
              </a:rPr>
              <a:t>Tinjau dashboard dan laporan untuk membaca cashflow, realisasi anggaran, serta aktivitas.</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Filter periode</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Ringkasan keluarga</a:t>
            </a:r>
          </a:p>
          <a:p xmlns:a="http://schemas.openxmlformats.org/drawingml/2006/main">
            <a:pPr marL="18" indent="-10">
              <a:spcAft>
                <a:spcPts val="300"/>
              </a:spcAft>
              <a:buChar char="•"/>
            </a:pPr>
            <a:r>
              <a:rPr sz="1600">
                <a:solidFill>
                  <a:srgbClr val="101828"/>
                </a:solidFill>
                <a:latin typeface="Helvetica Neue"/>
                <a:ea typeface="Helvetica Neue"/>
                <a:cs typeface="Helvetica Neue"/>
              </a:rPr>
              <a:t>Logout aman</a:t>
            </a:r>
          </a:p>
        </p:txBody>
      </p:sp>
      <p:sp>
        <p:nvSpPr>
          <p:cNvPr id="533" name="Google Shape;533;p58">
            <a:extLst xmlns:a="http://schemas.openxmlformats.org/drawingml/2006/main">
              <a:ext uri="{FF2B5EF4-FFF2-40B4-BE49-F238E27FC236}">
                <a16:creationId xmlns:a16="http://schemas.microsoft.com/office/drawing/2014/main" id="{24C70FFE-9D4B-9EEB-4231-9B1B74B40AF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b="1">
                <a:solidFill>
                  <a:srgbClr val="101828"/>
                </a:solidFill>
                <a:latin typeface="Helvetica Neue"/>
                <a:ea typeface="Helvetica Neue"/>
                <a:cs typeface="Helvetica Neue"/>
              </a:defRPr>
            </a:pPr>
            <a:r>
              <a:rPr sz="2900" b="1">
                <a:solidFill>
                  <a:srgbClr val="101828"/>
                </a:solidFill>
                <a:latin typeface="Helvetica Neue"/>
                <a:ea typeface="Helvetica Neue"/>
                <a:cs typeface="Helvetica Neue"/>
              </a:rPr>
              <a:t>Sequence penggunaan aplikasi</a:t>
            </a:r>
          </a:p>
        </p:txBody>
      </p:sp>
    </p:spTree>
    <p:extLst>
      <p:ext uri="{BB962C8B-B14F-4D97-AF65-F5344CB8AC3E}">
        <p14:creationId xmlns:p14="http://schemas.microsoft.com/office/powerpoint/2010/main" val="29661716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EE5B3003-2C54-13C6-9832-7637201064DE}" type="slidenum">
              <a:rPr sz="1100">
                <a:solidFill>
                  <a:srgbClr val="475467"/>
                </a:solidFill>
                <a:latin typeface="Helvetica Neue"/>
                <a:ea typeface="Helvetica Neue"/>
                <a:cs typeface="Helvetica Neue"/>
              </a:rPr>
              <a:t>5</a:t>
            </a:fld>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008"/>
            <a:ext cx="9448800" cy="36691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4800">
                <a:solidFill>
                  <a:srgbClr val="101828"/>
                </a:solidFill>
                <a:latin typeface="Helvetica Neue"/>
                <a:ea typeface="Helvetica Neue"/>
                <a:cs typeface="Helvetica Neue"/>
              </a:defRPr>
            </a:pPr>
            <a:r>
              <a:rPr sz="4800">
                <a:solidFill>
                  <a:srgbClr val="101828"/>
                </a:solidFill>
                <a:latin typeface="Helvetica Neue"/>
                <a:ea typeface="Helvetica Neue"/>
                <a:cs typeface="Helvetica Neue"/>
              </a:rPr>
              <a:t>Dua status,</a:t>
            </a:r>
          </a:p>
          <a:p xmlns:a="http://schemas.openxmlformats.org/drawingml/2006/main">
            <a:pPr>
              <a:defRPr sz="4800">
                <a:solidFill>
                  <a:srgbClr val="101828"/>
                </a:solidFill>
                <a:latin typeface="Helvetica Neue"/>
                <a:ea typeface="Helvetica Neue"/>
                <a:cs typeface="Helvetica Neue"/>
              </a:defRPr>
            </a:pPr>
            <a:r>
              <a:rPr sz="4800">
                <a:solidFill>
                  <a:srgbClr val="101828"/>
                </a:solidFill>
                <a:latin typeface="Helvetica Neue"/>
                <a:ea typeface="Helvetica Neue"/>
                <a:cs typeface="Helvetica Neue"/>
              </a:rPr>
              <a:t>satu aturan saldo</a:t>
            </a:r>
          </a:p>
          <a:p xmlns:a="http://schemas.openxmlformats.org/drawingml/2006/main">
            <a:pPr>
              <a:defRPr sz="4800">
                <a:solidFill>
                  <a:srgbClr val="101828"/>
                </a:solidFill>
                <a:latin typeface="Helvetica Neue"/>
                <a:ea typeface="Helvetica Neue"/>
                <a:cs typeface="Helvetica Neue"/>
              </a:defRPr>
            </a:pPr>
            <a:r>
              <a:rPr sz="4800">
                <a:solidFill>
                  <a:srgbClr val="101828"/>
                </a:solidFill>
                <a:latin typeface="Helvetica Neue"/>
                <a:ea typeface="Helvetica Neue"/>
                <a:cs typeface="Helvetica Neue"/>
              </a:rPr>
              <a:t>yang konsisten.</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rgbClr val="FDECEC"/>
          </a:solidFill>
          <a:ln xmlns:a="http://schemas.openxmlformats.org/drawingml/2006/main" w="9525">
            <a:solidFill>
              <a:srgbClr val="F7B4AE"/>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600">
                <a:solidFill>
                  <a:srgbClr val="101828"/>
                </a:solidFill>
                <a:latin typeface="Helvetica Neue"/>
                <a:ea typeface="Helvetica Neue"/>
                <a:cs typeface="Helvetica Neue"/>
              </a:defRPr>
            </a:pPr>
            <a:r>
              <a:rPr sz="1600" b="1">
                <a:solidFill>
                  <a:srgbClr val="007A55"/>
                </a:solidFill>
                <a:latin typeface="Helvetica Neue"/>
                <a:ea typeface="Helvetica Neue"/>
                <a:cs typeface="Helvetica Neue"/>
              </a:rPr>
              <a:t>Sukses</a:t>
            </a:r>
          </a:p>
          <a:p xmlns:a="http://schemas.openxmlformats.org/drawingml/2006/main">
            <a:pPr marL="0" indent="0">
              <a:lnSpc>
                <a:spcPct val="114000"/>
              </a:lnSpc>
              <a:spcBef>
                <a:spcPts val="0"/>
              </a:spcBef>
              <a:spcAft>
                <a:spcPts val="80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Transaksi benar-benar terjadi. Pemasukan menambah saldo; pengeluaran mengurangi saldo.</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600">
                <a:solidFill>
                  <a:srgbClr val="101828"/>
                </a:solidFill>
                <a:latin typeface="Helvetica Neue"/>
                <a:ea typeface="Helvetica Neue"/>
                <a:cs typeface="Helvetica Neue"/>
              </a:defRPr>
            </a:pPr>
            <a:r>
              <a:rPr sz="1600" b="1">
                <a:solidFill>
                  <a:srgbClr val="D92D20"/>
                </a:solidFill>
                <a:latin typeface="Helvetica Neue"/>
                <a:ea typeface="Helvetica Neue"/>
                <a:cs typeface="Helvetica Neue"/>
              </a:rPr>
              <a:t>Batal</a:t>
            </a:r>
          </a:p>
          <a:p xmlns:a="http://schemas.openxmlformats.org/drawingml/2006/main">
            <a:pPr marL="0" indent="0">
              <a:lnSpc>
                <a:spcPct val="114000"/>
              </a:lnSpc>
              <a:spcBef>
                <a:spcPts val="0"/>
              </a:spcBef>
              <a:spcAft>
                <a:spcPts val="80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Transaksi tetap terdokumentasi, tetapi tidak mengubah saldo dompet.</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A878"/>
          </a:solidFill>
          <a:ln xmlns:a="http://schemas.openxmlformats.org/drawingml/2006/main" w="9525">
            <a:solidFill>
              <a:srgbClr val="007A55"/>
            </a:solidFill>
            <a:prstDash val="solid"/>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None/>
            </a:p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D92D20"/>
          </a:solidFill>
          <a:ln xmlns:a="http://schemas.openxmlformats.org/drawingml/2006/main" w="9525">
            <a:solidFill>
              <a:srgbClr val="D92D20"/>
            </a:solidFill>
            <a:prstDash val="solid"/>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566183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78745C74-45EB-AE28-C330-5C7EA227B3A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8C630A04-5A25-9E0C-9436-126091DB86B3}" type="slidenum">
              <a:rPr sz="1100">
                <a:solidFill>
                  <a:srgbClr val="475467"/>
                </a:solidFill>
                <a:latin typeface="Helvetica Neue"/>
                <a:ea typeface="Helvetica Neue"/>
                <a:cs typeface="Helvetica Neue"/>
              </a:rPr>
              <a:t>6</a:t>
            </a:fld>
          </a:p>
        </p:txBody>
      </p:sp>
      <p:sp>
        <p:nvSpPr>
          <p:cNvPr id="3" name="Title 2">
            <a:extLst xmlns:a="http://schemas.openxmlformats.org/drawingml/2006/main">
              <a:ext uri="{FF2B5EF4-FFF2-40B4-BE49-F238E27FC236}">
                <a16:creationId xmlns:a16="http://schemas.microsoft.com/office/drawing/2014/main" id="{D03F6A93-D8A5-5E1B-B897-7FC43395C7A7}"/>
              </a:ext>
            </a:extLst>
          </p:cNvPr>
          <p:cNvSpPr>
            <a:spLocks xmlns:a="http://schemas.openxmlformats.org/drawingml/2006/main" noGrp="1"/>
          </p:cNvSpPr>
          <p:nvPr>
            <p:ph type="title" idx="0"/>
          </p:nvPr>
        </p:nvSpPr>
        <p:spPr>
          <a:xfrm xmlns:a="http://schemas.openxmlformats.org/drawingml/2006/main">
            <a:off x="393700" y="344009"/>
            <a:ext cx="7484432" cy="687058"/>
          </a:xfrm>
        </p:spPr>
        <p:txBody>
          <a:bodyPr xmlns:a="http://schemas.openxmlformats.org/drawingml/2006/main"/>
          <a:lstStyle xmlns:a="http://schemas.openxmlformats.org/drawingml/2006/main"/>
          <a:p xmlns:a="http://schemas.openxmlformats.org/drawingml/2006/main">
            <a:pPr>
              <a:defRPr sz="2900" b="1">
                <a:solidFill>
                  <a:srgbClr val="101828"/>
                </a:solidFill>
                <a:latin typeface="Helvetica Neue"/>
                <a:ea typeface="Helvetica Neue"/>
                <a:cs typeface="Helvetica Neue"/>
              </a:defRPr>
            </a:pPr>
            <a:r>
              <a:rPr sz="2900" b="1">
                <a:solidFill>
                  <a:srgbClr val="101828"/>
                </a:solidFill>
                <a:latin typeface="Helvetica Neue"/>
                <a:ea typeface="Helvetica Neue"/>
                <a:cs typeface="Helvetica Neue"/>
              </a:rPr>
              <a:t>Aplikasi telah diuji menyeluruh</a:t>
            </a:r>
          </a:p>
        </p:txBody>
      </p:sp>
      <p:sp>
        <p:nvSpPr>
          <p:cNvPr id="6" name="Rounded Rectangle 5">
            <a:extLst xmlns:a="http://schemas.openxmlformats.org/drawingml/2006/main">
              <a:ext uri="{FF2B5EF4-FFF2-40B4-BE49-F238E27FC236}">
                <a16:creationId xmlns:a16="http://schemas.microsoft.com/office/drawing/2014/main" id="{4B8E9A03-4B2C-B18E-82B3-81A4A01C1BFE}"/>
              </a:ext>
            </a:extLst>
          </p:cNvPr>
          <p:cNvSpPr>
            <a:spLocks xmlns:a="http://schemas.openxmlformats.org/drawingml/2006/main" noGrp="1"/>
          </p:cNvSpPr>
          <p:nvPr/>
        </p:nvSpPr>
        <p:spPr>
          <a:xfrm xmlns:a="http://schemas.openxmlformats.org/drawingml/2006/main">
            <a:off x="393700" y="435610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ounded Rectangle 18">
            <a:extLst xmlns:a="http://schemas.openxmlformats.org/drawingml/2006/main">
              <a:ext uri="{FF2B5EF4-FFF2-40B4-BE49-F238E27FC236}">
                <a16:creationId xmlns:a16="http://schemas.microsoft.com/office/drawing/2014/main" id="{BB9C5A0A-A5A1-9670-2D34-4ADE3A987520}"/>
              </a:ext>
            </a:extLst>
          </p:cNvPr>
          <p:cNvSpPr>
            <a:spLocks xmlns:a="http://schemas.openxmlformats.org/drawingml/2006/main" noGrp="1"/>
          </p:cNvSpPr>
          <p:nvPr/>
        </p:nvSpPr>
        <p:spPr>
          <a:xfrm xmlns:a="http://schemas.openxmlformats.org/drawingml/2006/main">
            <a:off x="2968634" y="435610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ounded Rectangle 19">
            <a:extLst xmlns:a="http://schemas.openxmlformats.org/drawingml/2006/main">
              <a:ext uri="{FF2B5EF4-FFF2-40B4-BE49-F238E27FC236}">
                <a16:creationId xmlns:a16="http://schemas.microsoft.com/office/drawing/2014/main" id="{F8B1C048-B419-3AD6-93D8-57A7BA14EF24}"/>
              </a:ext>
            </a:extLst>
          </p:cNvPr>
          <p:cNvSpPr>
            <a:spLocks xmlns:a="http://schemas.openxmlformats.org/drawingml/2006/main" noGrp="1"/>
          </p:cNvSpPr>
          <p:nvPr/>
        </p:nvSpPr>
        <p:spPr>
          <a:xfrm xmlns:a="http://schemas.openxmlformats.org/drawingml/2006/main">
            <a:off x="5543569" y="435610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Footer Placeholder 24">
            <a:extLst xmlns:a="http://schemas.openxmlformats.org/drawingml/2006/main">
              <a:ext uri="{FF2B5EF4-FFF2-40B4-BE49-F238E27FC236}">
                <a16:creationId xmlns:a16="http://schemas.microsoft.com/office/drawing/2014/main" id="{95A1BACE-9FEC-6113-E43D-CADED94947C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pPr>
              <a:defRPr sz="1100">
                <a:solidFill>
                  <a:srgbClr val="475467"/>
                </a:solidFill>
                <a:latin typeface="Helvetica Neue"/>
                <a:ea typeface="Helvetica Neue"/>
                <a:cs typeface="Helvetica Neue"/>
              </a:defRPr>
            </a:pPr>
            <a:r>
              <a:rPr sz="1100">
                <a:solidFill>
                  <a:srgbClr val="475467"/>
                </a:solidFill>
                <a:latin typeface="Helvetica Neue"/>
                <a:ea typeface="Helvetica Neue"/>
                <a:cs typeface="Helvetica Neue"/>
              </a:rPr>
              <a:t>*Pengujian akhir: 5 Juli 2026</a:t>
            </a:r>
          </a:p>
        </p:txBody>
      </p:sp>
      <p:sp>
        <p:nvSpPr>
          <p:cNvPr id="28" name="Content Placeholder 2">
            <a:extLst xmlns:a="http://schemas.openxmlformats.org/drawingml/2006/main">
              <a:ext uri="{FF2B5EF4-FFF2-40B4-BE49-F238E27FC236}">
                <a16:creationId xmlns:a16="http://schemas.microsoft.com/office/drawing/2014/main" id="{B3C3191E-B483-A5B1-1BFC-8359BB565493}"/>
              </a:ext>
            </a:extLst>
          </p:cNvPr>
          <p:cNvSpPr>
            <a:spLocks xmlns:a="http://schemas.openxmlformats.org/drawingml/2006/main" noGrp="1"/>
          </p:cNvSpPr>
          <p:nvPr/>
        </p:nvSpPr>
        <p:spPr>
          <a:xfrm xmlns:a="http://schemas.openxmlformats.org/drawingml/2006/main">
            <a:off x="8232273" y="2374900"/>
            <a:ext cx="3568700" cy="3863597"/>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400">
                <a:solidFill>
                  <a:srgbClr val="101828"/>
                </a:solidFill>
                <a:latin typeface="Helvetica Neue"/>
                <a:ea typeface="Helvetica Neue"/>
                <a:cs typeface="Helvetica Neue"/>
              </a:defRPr>
            </a:pPr>
            <a:r>
              <a:rPr sz="1800" b="1">
                <a:solidFill>
                  <a:srgbClr val="007A55"/>
                </a:solidFill>
                <a:latin typeface="Helvetica Neue"/>
                <a:ea typeface="Helvetica Neue"/>
                <a:cs typeface="Helvetica Neue"/>
              </a:rPr>
              <a:t>Siap dipresentasikan</a:t>
            </a:r>
          </a:p>
          <a:p xmlns:a="http://schemas.openxmlformats.org/drawingml/2006/main">
            <a:pPr marL="0" indent="0">
              <a:lnSpc>
                <a:spcPct val="114000"/>
              </a:lnSpc>
              <a:spcBef>
                <a:spcPts val="0"/>
              </a:spcBef>
              <a:spcAft>
                <a:spcPts val="800"/>
              </a:spcAft>
              <a:buNone/>
              <a:defRPr sz="1400">
                <a:solidFill>
                  <a:srgbClr val="101828"/>
                </a:solidFill>
                <a:latin typeface="Helvetica Neue"/>
                <a:ea typeface="Helvetica Neue"/>
                <a:cs typeface="Helvetica Neue"/>
              </a:defRPr>
            </a:pPr>
            <a:r>
              <a:rPr sz="1400">
                <a:solidFill>
                  <a:srgbClr val="101828"/>
                </a:solidFill>
                <a:latin typeface="Helvetica Neue"/>
                <a:ea typeface="Helvetica Neue"/>
                <a:cs typeface="Helvetica Neue"/>
              </a:rPr>
              <a:t>• Autentikasi dan isolasi keluarga teruji</a:t>
            </a:r>
          </a:p>
          <a:p xmlns:a="http://schemas.openxmlformats.org/drawingml/2006/main">
            <a:pPr marL="0" indent="0">
              <a:lnSpc>
                <a:spcPct val="114000"/>
              </a:lnSpc>
              <a:spcBef>
                <a:spcPts val="0"/>
              </a:spcBef>
              <a:spcAft>
                <a:spcPts val="800"/>
              </a:spcAft>
              <a:buNone/>
              <a:defRPr sz="1400">
                <a:solidFill>
                  <a:srgbClr val="101828"/>
                </a:solidFill>
                <a:latin typeface="Helvetica Neue"/>
                <a:ea typeface="Helvetica Neue"/>
                <a:cs typeface="Helvetica Neue"/>
              </a:defRPr>
            </a:pPr>
            <a:r>
              <a:rPr sz="1400">
                <a:solidFill>
                  <a:srgbClr val="101828"/>
                </a:solidFill>
                <a:latin typeface="Helvetica Neue"/>
                <a:ea typeface="Helvetica Neue"/>
                <a:cs typeface="Helvetica Neue"/>
              </a:rPr>
              <a:t>• Saldo serta histori transaksi tetap konsisten</a:t>
            </a:r>
          </a:p>
          <a:p xmlns:a="http://schemas.openxmlformats.org/drawingml/2006/main">
            <a:pPr marL="0" indent="0">
              <a:lnSpc>
                <a:spcPct val="114000"/>
              </a:lnSpc>
              <a:spcBef>
                <a:spcPts val="0"/>
              </a:spcBef>
              <a:spcAft>
                <a:spcPts val="800"/>
              </a:spcAft>
              <a:buNone/>
              <a:defRPr sz="1400">
                <a:solidFill>
                  <a:srgbClr val="101828"/>
                </a:solidFill>
                <a:latin typeface="Helvetica Neue"/>
                <a:ea typeface="Helvetica Neue"/>
                <a:cs typeface="Helvetica Neue"/>
              </a:defRPr>
            </a:pPr>
            <a:r>
              <a:rPr sz="1400">
                <a:solidFill>
                  <a:srgbClr val="101828"/>
                </a:solidFill>
                <a:latin typeface="Helvetica Neue"/>
                <a:ea typeface="Helvetica Neue"/>
                <a:cs typeface="Helvetica Neue"/>
              </a:rPr>
              <a:t>• Build frontend production berhasil</a:t>
            </a:r>
          </a:p>
        </p:txBody>
      </p:sp>
      <p:sp>
        <p:nvSpPr>
          <p:cNvPr id="30" name="Content Placeholder 9">
            <a:extLst xmlns:a="http://schemas.openxmlformats.org/drawingml/2006/main">
              <a:ext uri="{FF2B5EF4-FFF2-40B4-BE49-F238E27FC236}">
                <a16:creationId xmlns:a16="http://schemas.microsoft.com/office/drawing/2014/main" id="{A2629DBE-08D2-7E4E-7363-739E24C59768}"/>
              </a:ext>
            </a:extLst>
          </p:cNvPr>
          <p:cNvSpPr>
            <a:spLocks xmlns:a="http://schemas.openxmlformats.org/drawingml/2006/main" noGrp="1"/>
          </p:cNvSpPr>
          <p:nvPr/>
        </p:nvSpPr>
        <p:spPr>
          <a:xfrm xmlns:a="http://schemas.openxmlformats.org/drawingml/2006/main">
            <a:off x="565150"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007A55"/>
                </a:solidFill>
                <a:latin typeface="Helvetica Neue"/>
                <a:ea typeface="Helvetica Neue"/>
                <a:cs typeface="Helvetica Neue"/>
              </a:defRPr>
            </a:pPr>
            <a:r>
              <a:rPr sz="5000" u="none" cap="none">
                <a:ln>
                  <a:noFill/>
                </a:ln>
                <a:solidFill>
                  <a:srgbClr val="007A55"/>
                </a:solidFill>
                <a:latin typeface="Helvetica Neue"/>
                <a:ea typeface="Helvetica Neue"/>
                <a:cs typeface="Helvetica Neue"/>
              </a:rPr>
              <a:t>34</a:t>
            </a:r>
          </a:p>
        </p:txBody>
      </p:sp>
      <p:sp>
        <p:nvSpPr>
          <p:cNvPr id="31" name="Content Placeholder 9">
            <a:extLst xmlns:a="http://schemas.openxmlformats.org/drawingml/2006/main">
              <a:ext uri="{FF2B5EF4-FFF2-40B4-BE49-F238E27FC236}">
                <a16:creationId xmlns:a16="http://schemas.microsoft.com/office/drawing/2014/main" id="{2D533C57-9277-DA71-420A-852FB372D17F}"/>
              </a:ext>
            </a:extLst>
          </p:cNvPr>
          <p:cNvSpPr>
            <a:spLocks xmlns:a="http://schemas.openxmlformats.org/drawingml/2006/main" noGrp="1"/>
          </p:cNvSpPr>
          <p:nvPr/>
        </p:nvSpPr>
        <p:spPr>
          <a:xfrm xmlns:a="http://schemas.openxmlformats.org/drawingml/2006/main">
            <a:off x="656590"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route aplikasi</a:t>
            </a:r>
          </a:p>
        </p:txBody>
      </p:sp>
      <p:sp>
        <p:nvSpPr>
          <p:cNvPr id="32" name="Content Placeholder 9">
            <a:extLst xmlns:a="http://schemas.openxmlformats.org/drawingml/2006/main">
              <a:ext uri="{FF2B5EF4-FFF2-40B4-BE49-F238E27FC236}">
                <a16:creationId xmlns:a16="http://schemas.microsoft.com/office/drawing/2014/main" id="{C960D833-F6EA-C5E9-6DE4-D21876FC340D}"/>
              </a:ext>
            </a:extLst>
          </p:cNvPr>
          <p:cNvSpPr>
            <a:spLocks xmlns:a="http://schemas.openxmlformats.org/drawingml/2006/main" noGrp="1"/>
          </p:cNvSpPr>
          <p:nvPr/>
        </p:nvSpPr>
        <p:spPr>
          <a:xfrm xmlns:a="http://schemas.openxmlformats.org/drawingml/2006/main">
            <a:off x="3172795"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007A55"/>
                </a:solidFill>
                <a:latin typeface="Helvetica Neue"/>
                <a:ea typeface="Helvetica Neue"/>
                <a:cs typeface="Helvetica Neue"/>
              </a:defRPr>
            </a:pPr>
            <a:r>
              <a:rPr sz="5000" u="none" cap="none">
                <a:ln>
                  <a:noFill/>
                </a:ln>
                <a:solidFill>
                  <a:srgbClr val="007A55"/>
                </a:solidFill>
                <a:latin typeface="Helvetica Neue"/>
                <a:ea typeface="Helvetica Neue"/>
                <a:cs typeface="Helvetica Neue"/>
              </a:rPr>
              <a:t>88</a:t>
            </a:r>
          </a:p>
        </p:txBody>
      </p:sp>
      <p:sp>
        <p:nvSpPr>
          <p:cNvPr id="33" name="Content Placeholder 9">
            <a:extLst xmlns:a="http://schemas.openxmlformats.org/drawingml/2006/main">
              <a:ext uri="{FF2B5EF4-FFF2-40B4-BE49-F238E27FC236}">
                <a16:creationId xmlns:a16="http://schemas.microsoft.com/office/drawing/2014/main" id="{BF33EEB6-55CD-E6FE-95D2-55A288BCF125}"/>
              </a:ext>
            </a:extLst>
          </p:cNvPr>
          <p:cNvSpPr>
            <a:spLocks xmlns:a="http://schemas.openxmlformats.org/drawingml/2006/main" noGrp="1"/>
          </p:cNvSpPr>
          <p:nvPr/>
        </p:nvSpPr>
        <p:spPr>
          <a:xfrm xmlns:a="http://schemas.openxmlformats.org/drawingml/2006/main">
            <a:off x="3264235"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transaksi Sukses</a:t>
            </a:r>
          </a:p>
        </p:txBody>
      </p:sp>
      <p:sp>
        <p:nvSpPr>
          <p:cNvPr id="35" name="Content Placeholder 9">
            <a:extLst xmlns:a="http://schemas.openxmlformats.org/drawingml/2006/main">
              <a:ext uri="{FF2B5EF4-FFF2-40B4-BE49-F238E27FC236}">
                <a16:creationId xmlns:a16="http://schemas.microsoft.com/office/drawing/2014/main" id="{6ABC2165-3103-0F8C-58B6-34BB68635572}"/>
              </a:ext>
            </a:extLst>
          </p:cNvPr>
          <p:cNvSpPr>
            <a:spLocks xmlns:a="http://schemas.openxmlformats.org/drawingml/2006/main" noGrp="1"/>
          </p:cNvSpPr>
          <p:nvPr/>
        </p:nvSpPr>
        <p:spPr>
          <a:xfrm xmlns:a="http://schemas.openxmlformats.org/drawingml/2006/main">
            <a:off x="5771616" y="456307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D92D20"/>
                </a:solidFill>
                <a:latin typeface="Helvetica Neue"/>
                <a:ea typeface="Helvetica Neue"/>
                <a:cs typeface="Helvetica Neue"/>
              </a:defRPr>
            </a:pPr>
            <a:r>
              <a:rPr sz="5000" u="none" cap="none">
                <a:ln>
                  <a:noFill/>
                </a:ln>
                <a:solidFill>
                  <a:srgbClr val="D92D20"/>
                </a:solidFill>
                <a:latin typeface="Helvetica Neue"/>
                <a:ea typeface="Helvetica Neue"/>
                <a:cs typeface="Helvetica Neue"/>
              </a:rPr>
              <a:t>2</a:t>
            </a:r>
          </a:p>
        </p:txBody>
      </p:sp>
      <p:sp>
        <p:nvSpPr>
          <p:cNvPr id="36" name="Content Placeholder 9">
            <a:extLst xmlns:a="http://schemas.openxmlformats.org/drawingml/2006/main">
              <a:ext uri="{FF2B5EF4-FFF2-40B4-BE49-F238E27FC236}">
                <a16:creationId xmlns:a16="http://schemas.microsoft.com/office/drawing/2014/main" id="{C48CB7DC-F282-1D69-FD55-0B1565AB0418}"/>
              </a:ext>
            </a:extLst>
          </p:cNvPr>
          <p:cNvSpPr>
            <a:spLocks xmlns:a="http://schemas.openxmlformats.org/drawingml/2006/main" noGrp="1"/>
          </p:cNvSpPr>
          <p:nvPr/>
        </p:nvSpPr>
        <p:spPr>
          <a:xfrm xmlns:a="http://schemas.openxmlformats.org/drawingml/2006/main">
            <a:off x="5863056" y="546682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transaksi Batal</a:t>
            </a:r>
          </a:p>
        </p:txBody>
      </p:sp>
      <p:sp>
        <p:nvSpPr>
          <p:cNvPr id="4" name="Rounded Rectangle 3">
            <a:extLst xmlns:a="http://schemas.openxmlformats.org/drawingml/2006/main">
              <a:ext uri="{FF2B5EF4-FFF2-40B4-BE49-F238E27FC236}">
                <a16:creationId xmlns:a16="http://schemas.microsoft.com/office/drawing/2014/main" id="{BD5FE77B-90E1-5236-3990-7079CE78B791}"/>
              </a:ext>
            </a:extLst>
          </p:cNvPr>
          <p:cNvSpPr>
            <a:spLocks xmlns:a="http://schemas.openxmlformats.org/drawingml/2006/main" noGrp="1"/>
          </p:cNvSpPr>
          <p:nvPr/>
        </p:nvSpPr>
        <p:spPr>
          <a:xfrm xmlns:a="http://schemas.openxmlformats.org/drawingml/2006/main">
            <a:off x="393700" y="224155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ounded Rectangle 4">
            <a:extLst xmlns:a="http://schemas.openxmlformats.org/drawingml/2006/main">
              <a:ext uri="{FF2B5EF4-FFF2-40B4-BE49-F238E27FC236}">
                <a16:creationId xmlns:a16="http://schemas.microsoft.com/office/drawing/2014/main" id="{60C351F7-AC2A-1B40-78B5-13B90FA91BEA}"/>
              </a:ext>
            </a:extLst>
          </p:cNvPr>
          <p:cNvSpPr>
            <a:spLocks xmlns:a="http://schemas.openxmlformats.org/drawingml/2006/main" noGrp="1"/>
          </p:cNvSpPr>
          <p:nvPr/>
        </p:nvSpPr>
        <p:spPr>
          <a:xfrm xmlns:a="http://schemas.openxmlformats.org/drawingml/2006/main">
            <a:off x="2968634" y="224155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11CEE641-9418-21DE-A949-29DF25A0EFFD}"/>
              </a:ext>
            </a:extLst>
          </p:cNvPr>
          <p:cNvSpPr>
            <a:spLocks xmlns:a="http://schemas.openxmlformats.org/drawingml/2006/main" noGrp="1"/>
          </p:cNvSpPr>
          <p:nvPr/>
        </p:nvSpPr>
        <p:spPr>
          <a:xfrm xmlns:a="http://schemas.openxmlformats.org/drawingml/2006/main">
            <a:off x="5543569" y="2241550"/>
            <a:ext cx="2334563" cy="1882398"/>
          </a:xfrm>
          <a:prstGeom xmlns:a="http://schemas.openxmlformats.org/drawingml/2006/main" prst="roundRect">
            <a:avLst>
              <a:gd name="adj" fmla="val 3585"/>
            </a:avLst>
          </a:prstGeom>
          <a:solidFill xmlns:a="http://schemas.openxmlformats.org/drawingml/2006/main">
            <a:srgbClr val="E8F8F1"/>
          </a:solidFill>
          <a:ln xmlns:a="http://schemas.openxmlformats.org/drawingml/2006/main" w="9525">
            <a:solidFill>
              <a:srgbClr val="B7E7D4"/>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Content Placeholder 9">
            <a:extLst xmlns:a="http://schemas.openxmlformats.org/drawingml/2006/main">
              <a:ext uri="{FF2B5EF4-FFF2-40B4-BE49-F238E27FC236}">
                <a16:creationId xmlns:a16="http://schemas.microsoft.com/office/drawing/2014/main" id="{C27408C0-0932-3E46-A6F1-86E2F1C7E1EB}"/>
              </a:ext>
            </a:extLst>
          </p:cNvPr>
          <p:cNvSpPr>
            <a:spLocks xmlns:a="http://schemas.openxmlformats.org/drawingml/2006/main" noGrp="1"/>
          </p:cNvSpPr>
          <p:nvPr/>
        </p:nvSpPr>
        <p:spPr>
          <a:xfrm xmlns:a="http://schemas.openxmlformats.org/drawingml/2006/main">
            <a:off x="565150" y="244852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007A55"/>
                </a:solidFill>
                <a:latin typeface="Helvetica Neue"/>
                <a:ea typeface="Helvetica Neue"/>
                <a:cs typeface="Helvetica Neue"/>
              </a:defRPr>
            </a:pPr>
            <a:r>
              <a:rPr sz="5000" u="none" cap="none">
                <a:ln>
                  <a:noFill/>
                </a:ln>
                <a:solidFill>
                  <a:srgbClr val="007A55"/>
                </a:solidFill>
                <a:latin typeface="Helvetica Neue"/>
                <a:ea typeface="Helvetica Neue"/>
                <a:cs typeface="Helvetica Neue"/>
              </a:rPr>
              <a:t>11</a:t>
            </a:r>
          </a:p>
        </p:txBody>
      </p:sp>
      <p:sp>
        <p:nvSpPr>
          <p:cNvPr id="9" name="Content Placeholder 9">
            <a:extLst xmlns:a="http://schemas.openxmlformats.org/drawingml/2006/main">
              <a:ext uri="{FF2B5EF4-FFF2-40B4-BE49-F238E27FC236}">
                <a16:creationId xmlns:a16="http://schemas.microsoft.com/office/drawing/2014/main" id="{56E44BE8-FC97-2F06-AD91-3DEB9C1337DC}"/>
              </a:ext>
            </a:extLst>
          </p:cNvPr>
          <p:cNvSpPr>
            <a:spLocks xmlns:a="http://schemas.openxmlformats.org/drawingml/2006/main" noGrp="1"/>
          </p:cNvSpPr>
          <p:nvPr/>
        </p:nvSpPr>
        <p:spPr>
          <a:xfrm xmlns:a="http://schemas.openxmlformats.org/drawingml/2006/main">
            <a:off x="656590"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test lulus</a:t>
            </a:r>
          </a:p>
        </p:txBody>
      </p:sp>
      <p:sp>
        <p:nvSpPr>
          <p:cNvPr id="10" name="Content Placeholder 9">
            <a:extLst xmlns:a="http://schemas.openxmlformats.org/drawingml/2006/main">
              <a:ext uri="{FF2B5EF4-FFF2-40B4-BE49-F238E27FC236}">
                <a16:creationId xmlns:a16="http://schemas.microsoft.com/office/drawing/2014/main" id="{DF499E89-5132-2D79-D060-7F883BF46606}"/>
              </a:ext>
            </a:extLst>
          </p:cNvPr>
          <p:cNvSpPr>
            <a:spLocks xmlns:a="http://schemas.openxmlformats.org/drawingml/2006/main" noGrp="1"/>
          </p:cNvSpPr>
          <p:nvPr/>
        </p:nvSpPr>
        <p:spPr>
          <a:xfrm xmlns:a="http://schemas.openxmlformats.org/drawingml/2006/main">
            <a:off x="3172795" y="244852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007A55"/>
                </a:solidFill>
                <a:latin typeface="Helvetica Neue"/>
                <a:ea typeface="Helvetica Neue"/>
                <a:cs typeface="Helvetica Neue"/>
              </a:defRPr>
            </a:pPr>
            <a:r>
              <a:rPr sz="5000" u="none" cap="none">
                <a:ln>
                  <a:noFill/>
                </a:ln>
                <a:solidFill>
                  <a:srgbClr val="007A55"/>
                </a:solidFill>
                <a:latin typeface="Helvetica Neue"/>
                <a:ea typeface="Helvetica Neue"/>
                <a:cs typeface="Helvetica Neue"/>
              </a:rPr>
              <a:t>145</a:t>
            </a:r>
          </a:p>
        </p:txBody>
      </p:sp>
      <p:sp>
        <p:nvSpPr>
          <p:cNvPr id="11" name="Content Placeholder 9">
            <a:extLst xmlns:a="http://schemas.openxmlformats.org/drawingml/2006/main">
              <a:ext uri="{FF2B5EF4-FFF2-40B4-BE49-F238E27FC236}">
                <a16:creationId xmlns:a16="http://schemas.microsoft.com/office/drawing/2014/main" id="{5C3FD83C-7E51-3532-0CC5-3111AC378682}"/>
              </a:ext>
            </a:extLst>
          </p:cNvPr>
          <p:cNvSpPr>
            <a:spLocks xmlns:a="http://schemas.openxmlformats.org/drawingml/2006/main" noGrp="1"/>
          </p:cNvSpPr>
          <p:nvPr/>
        </p:nvSpPr>
        <p:spPr>
          <a:xfrm xmlns:a="http://schemas.openxmlformats.org/drawingml/2006/main">
            <a:off x="3264235"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assertion</a:t>
            </a:r>
          </a:p>
        </p:txBody>
      </p:sp>
      <p:sp>
        <p:nvSpPr>
          <p:cNvPr id="12" name="Content Placeholder 9">
            <a:extLst xmlns:a="http://schemas.openxmlformats.org/drawingml/2006/main">
              <a:ext uri="{FF2B5EF4-FFF2-40B4-BE49-F238E27FC236}">
                <a16:creationId xmlns:a16="http://schemas.microsoft.com/office/drawing/2014/main" id="{69C6FF59-91B0-A266-F811-6C509F30CF4B}"/>
              </a:ext>
            </a:extLst>
          </p:cNvPr>
          <p:cNvSpPr>
            <a:spLocks xmlns:a="http://schemas.openxmlformats.org/drawingml/2006/main" noGrp="1"/>
          </p:cNvSpPr>
          <p:nvPr/>
        </p:nvSpPr>
        <p:spPr>
          <a:xfrm xmlns:a="http://schemas.openxmlformats.org/drawingml/2006/main">
            <a:off x="5771616" y="2448528"/>
            <a:ext cx="1612900"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5000">
                <a:solidFill>
                  <a:srgbClr val="007A55"/>
                </a:solidFill>
                <a:latin typeface="Helvetica Neue"/>
                <a:ea typeface="Helvetica Neue"/>
                <a:cs typeface="Helvetica Neue"/>
              </a:defRPr>
            </a:pPr>
            <a:r>
              <a:rPr sz="5000" u="none" cap="none">
                <a:ln>
                  <a:noFill/>
                </a:ln>
                <a:solidFill>
                  <a:srgbClr val="007A55"/>
                </a:solidFill>
                <a:latin typeface="Helvetica Neue"/>
                <a:ea typeface="Helvetica Neue"/>
                <a:cs typeface="Helvetica Neue"/>
              </a:rPr>
              <a:t>41</a:t>
            </a:r>
          </a:p>
        </p:txBody>
      </p:sp>
      <p:sp>
        <p:nvSpPr>
          <p:cNvPr id="13" name="Content Placeholder 9">
            <a:extLst xmlns:a="http://schemas.openxmlformats.org/drawingml/2006/main">
              <a:ext uri="{FF2B5EF4-FFF2-40B4-BE49-F238E27FC236}">
                <a16:creationId xmlns:a16="http://schemas.microsoft.com/office/drawing/2014/main" id="{CB933D0C-0148-034A-E964-ED7F56E5FB68}"/>
              </a:ext>
            </a:extLst>
          </p:cNvPr>
          <p:cNvSpPr>
            <a:spLocks xmlns:a="http://schemas.openxmlformats.org/drawingml/2006/main" noGrp="1"/>
          </p:cNvSpPr>
          <p:nvPr/>
        </p:nvSpPr>
        <p:spPr>
          <a:xfrm xmlns:a="http://schemas.openxmlformats.org/drawingml/2006/main">
            <a:off x="5863056" y="3352278"/>
            <a:ext cx="1612900" cy="392952"/>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defRPr sz="1600">
                <a:solidFill>
                  <a:srgbClr val="101828"/>
                </a:solidFill>
                <a:latin typeface="Helvetica Neue"/>
                <a:ea typeface="Helvetica Neue"/>
                <a:cs typeface="Helvetica Neue"/>
              </a:defRPr>
            </a:pPr>
            <a:r>
              <a:rPr sz="1600">
                <a:solidFill>
                  <a:srgbClr val="101828"/>
                </a:solidFill>
                <a:latin typeface="Helvetica Neue"/>
                <a:ea typeface="Helvetica Neue"/>
                <a:cs typeface="Helvetica Neue"/>
              </a:rPr>
              <a:t>file PHP lolos lint</a:t>
            </a:r>
          </a:p>
        </p:txBody>
      </p:sp>
    </p:spTree>
    <p:extLst>
      <p:ext uri="{BB962C8B-B14F-4D97-AF65-F5344CB8AC3E}">
        <p14:creationId xmlns:p14="http://schemas.microsoft.com/office/powerpoint/2010/main" val="8550199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object 3">
            <a:extLst xmlns:a="http://schemas.openxmlformats.org/drawingml/2006/main">
              <a:ext uri="{FF2B5EF4-FFF2-40B4-BE49-F238E27FC236}">
                <a16:creationId xmlns:a16="http://schemas.microsoft.com/office/drawing/2014/main" id="{E9587ADC-D7C6-0752-CB04-90543E6E5BD8}"/>
              </a:ext>
            </a:extLst>
          </p:cNvPr>
          <p:cNvSpPr>
            <a:spLocks xmlns:a="http://schemas.openxmlformats.org/drawingml/2006/main" noGrp="1"/>
          </p:cNvSpPr>
          <p:nvPr/>
        </p:nvSpPr>
        <p:spPr>
          <a:xfrm xmlns:a="http://schemas.openxmlformats.org/drawingml/2006/main">
            <a:off x="5930900" y="0"/>
            <a:ext cx="6261100" cy="6858000"/>
          </a:xfrm>
          <a:custGeom xmlns:a="http://schemas.openxmlformats.org/drawingml/2006/main">
            <a:rect l="l" t="t" r="r" b="b"/>
            <a:pathLst>
              <a:path w="7386319" h="7475220">
                <a:moveTo>
                  <a:pt x="7385710" y="0"/>
                </a:moveTo>
                <a:lnTo>
                  <a:pt x="0" y="0"/>
                </a:lnTo>
                <a:lnTo>
                  <a:pt x="0" y="7474610"/>
                </a:lnTo>
                <a:lnTo>
                  <a:pt x="7385710" y="7474610"/>
                </a:lnTo>
                <a:lnTo>
                  <a:pt x="7385710" y="0"/>
                </a:lnTo>
                <a:close/>
              </a:path>
            </a:pathLst>
          </a:custGeom>
          <a:solidFill xmlns:a="http://schemas.openxmlformats.org/drawingml/2006/main">
            <a:srgbClr val="E8F8F1"/>
          </a:solidFill>
          <a:ln xmlns:a="http://schemas.openxmlformats.org/drawingml/2006/main" w="0">
            <a:solidFill>
              <a:srgbClr val="E8F8F1"/>
            </a:solidFill>
            <a:prstDash val="solid"/>
          </a:ln>
        </p:spPr>
        <p:txBody>
          <a:bodyPr xmlns:a="http://schemas.openxmlformats.org/drawingml/2006/main" wrap="square" lIns="0" tIns="0" rIns="0" bIns="0"/>
          <a:lstStyle xmlns:a="http://schemas.openxmlformats.org/drawingml/2006/main"/>
          <a:p xmlns:a="http://schemas.openxmlformats.org/drawingml/2006/main"/>
        </p:txBody>
      </p:sp>
      <p:sp>
        <p:nvSpPr>
          <p:cNvPr id="532" name="Google Shape;532;p58">
            <a:extLst xmlns:a="http://schemas.openxmlformats.org/drawingml/2006/main">
              <a:ext uri="{FF2B5EF4-FFF2-40B4-BE49-F238E27FC236}">
                <a16:creationId xmlns:a16="http://schemas.microsoft.com/office/drawing/2014/main" id="{F0FFD4C2-91BF-62E5-3F4D-5F22CB693C50}"/>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a:defRPr sz="1100">
                <a:solidFill>
                  <a:srgbClr val="475467"/>
                </a:solidFill>
                <a:latin typeface="Helvetica Neue"/>
                <a:ea typeface="Helvetica Neue"/>
                <a:cs typeface="Helvetica Neue"/>
              </a:defRPr>
            </a:pPr>
            <a:fld id="{D3D7D1C8-AE23-AA48-DF65-C742588DBE47}" type="slidenum">
              <a:rPr sz="1100">
                <a:solidFill>
                  <a:srgbClr val="475467"/>
                </a:solidFill>
                <a:latin typeface="Helvetica Neue"/>
                <a:ea typeface="Helvetica Neue"/>
                <a:cs typeface="Helvetica Neue"/>
              </a:rPr>
              <a:t>7</a:t>
            </a:fld>
          </a:p>
        </p:txBody>
      </p:sp>
      <p:sp>
        <p:nvSpPr>
          <p:cNvPr id="533" name="Google Shape;533;p58">
            <a:extLst xmlns:a="http://schemas.openxmlformats.org/drawingml/2006/main">
              <a:ext uri="{FF2B5EF4-FFF2-40B4-BE49-F238E27FC236}">
                <a16:creationId xmlns:a16="http://schemas.microsoft.com/office/drawing/2014/main" id="{76B53431-A5A3-DBCC-DDCF-BA4B5ED509B5}"/>
              </a:ext>
            </a:extLst>
          </p:cNvPr>
          <p:cNvSpPr>
            <a:spLocks xmlns:a="http://schemas.openxmlformats.org/drawingml/2006/main" noGrp="1"/>
          </p:cNvSpPr>
          <p:nvPr>
            <p:ph type="title" idx="0"/>
          </p:nvPr>
        </p:nvSpPr>
        <p:spPr>
          <a:xfrm xmlns:a="http://schemas.openxmlformats.org/drawingml/2006/main">
            <a:off x="393700" y="344008"/>
            <a:ext cx="5537200" cy="26785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4200">
                <a:solidFill>
                  <a:srgbClr val="101828"/>
                </a:solidFill>
                <a:latin typeface="Helvetica Neue"/>
                <a:ea typeface="Helvetica Neue"/>
                <a:cs typeface="Helvetica Neue"/>
              </a:defRPr>
            </a:pPr>
            <a:r>
              <a:rPr sz="4200">
                <a:solidFill>
                  <a:srgbClr val="101828"/>
                </a:solidFill>
                <a:latin typeface="Helvetica Neue"/>
                <a:ea typeface="Helvetica Neue"/>
                <a:cs typeface="Helvetica Neue"/>
              </a:rPr>
              <a:t>FamFinance menyatukan</a:t>
            </a:r>
          </a:p>
          <a:p xmlns:a="http://schemas.openxmlformats.org/drawingml/2006/main">
            <a:pPr>
              <a:defRPr sz="4200">
                <a:solidFill>
                  <a:srgbClr val="101828"/>
                </a:solidFill>
                <a:latin typeface="Helvetica Neue"/>
                <a:ea typeface="Helvetica Neue"/>
                <a:cs typeface="Helvetica Neue"/>
              </a:defRPr>
            </a:pPr>
            <a:r>
              <a:rPr sz="4200">
                <a:solidFill>
                  <a:srgbClr val="101828"/>
                </a:solidFill>
                <a:latin typeface="Helvetica Neue"/>
                <a:ea typeface="Helvetica Neue"/>
                <a:cs typeface="Helvetica Neue"/>
              </a:rPr>
              <a:t>keuangan keluarga</a:t>
            </a:r>
          </a:p>
        </p:txBody>
      </p:sp>
      <p:sp>
        <p:nvSpPr>
          <p:cNvPr id="3" name="Google Shape;533;p58">
            <a:extLst xmlns:a="http://schemas.openxmlformats.org/drawingml/2006/main">
              <a:ext uri="{FF2B5EF4-FFF2-40B4-BE49-F238E27FC236}">
                <a16:creationId xmlns:a16="http://schemas.microsoft.com/office/drawing/2014/main" id="{482C0709-78B4-948D-01E2-20AD0623CFFE}"/>
              </a:ext>
            </a:extLst>
          </p:cNvPr>
          <p:cNvSpPr>
            <a:spLocks xmlns:a="http://schemas.openxmlformats.org/drawingml/2006/main" noGrp="1"/>
          </p:cNvSpPr>
          <p:nvPr/>
        </p:nvSpPr>
        <p:spPr>
          <a:xfrm xmlns:a="http://schemas.openxmlformats.org/drawingml/2006/main">
            <a:off x="6261068" y="4095750"/>
            <a:ext cx="5537168" cy="19050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algn="l">
              <a:lnSpc>
                <a:spcPct val="90000"/>
              </a:lnSpc>
              <a:spcBef>
                <a:spcPts val="0"/>
              </a:spcBef>
              <a:buNone/>
              <a:defRPr sz="2900">
                <a:solidFill>
                  <a:schemeClr val="tx1"/>
                </a:solidFill>
                <a:latin typeface="+mj-lt"/>
                <a:ea typeface="+mj-lt"/>
                <a:cs typeface="+mj-lt"/>
              </a:defRPr>
            </a:lvl1pPr>
          </a:lstStyle>
          <a:p xmlns:a="http://schemas.openxmlformats.org/drawingml/2006/main">
            <a:pPr>
              <a:defRPr sz="4200" b="1">
                <a:solidFill>
                  <a:srgbClr val="007A55"/>
                </a:solidFill>
                <a:latin typeface="Helvetica Neue"/>
                <a:ea typeface="Helvetica Neue"/>
                <a:cs typeface="Helvetica Neue"/>
              </a:defRPr>
            </a:pPr>
            <a:r>
              <a:rPr sz="4200" b="1">
                <a:solidFill>
                  <a:srgbClr val="007A55"/>
                </a:solidFill>
                <a:latin typeface="Helvetica Neue"/>
                <a:ea typeface="Helvetica Neue"/>
                <a:cs typeface="Helvetica Neue"/>
              </a:rPr>
              <a:t>Catat.</a:t>
            </a:r>
          </a:p>
          <a:p xmlns:a="http://schemas.openxmlformats.org/drawingml/2006/main">
            <a:pPr>
              <a:defRPr sz="4200" b="1">
                <a:solidFill>
                  <a:srgbClr val="007A55"/>
                </a:solidFill>
                <a:latin typeface="Helvetica Neue"/>
                <a:ea typeface="Helvetica Neue"/>
                <a:cs typeface="Helvetica Neue"/>
              </a:defRPr>
            </a:pPr>
            <a:r>
              <a:rPr sz="4200" b="1">
                <a:solidFill>
                  <a:srgbClr val="007A55"/>
                </a:solidFill>
                <a:latin typeface="Helvetica Neue"/>
                <a:ea typeface="Helvetica Neue"/>
                <a:cs typeface="Helvetica Neue"/>
              </a:rPr>
              <a:t>Kendalikan.</a:t>
            </a:r>
          </a:p>
          <a:p xmlns:a="http://schemas.openxmlformats.org/drawingml/2006/main">
            <a:pPr>
              <a:defRPr sz="4200" b="1">
                <a:solidFill>
                  <a:srgbClr val="007A55"/>
                </a:solidFill>
                <a:latin typeface="Helvetica Neue"/>
                <a:ea typeface="Helvetica Neue"/>
                <a:cs typeface="Helvetica Neue"/>
              </a:defRPr>
            </a:pPr>
            <a:r>
              <a:rPr sz="4200" b="1">
                <a:solidFill>
                  <a:srgbClr val="007A55"/>
                </a:solidFill>
                <a:latin typeface="Helvetica Neue"/>
                <a:ea typeface="Helvetica Neue"/>
                <a:cs typeface="Helvetica Neue"/>
              </a:rPr>
              <a:t>Evaluasi.</a:t>
            </a:r>
          </a:p>
        </p:txBody>
      </p:sp>
    </p:spTree>
    <p:extLst>
      <p:ext uri="{BB962C8B-B14F-4D97-AF65-F5344CB8AC3E}">
        <p14:creationId xmlns:p14="http://schemas.microsoft.com/office/powerpoint/2010/main" val="3931526918"/>
      </p:ext>
    </p:extLst>
  </p:cSld>
</p:sld>
</file>

<file path=ppt/theme/theme1.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2026-07-05T02:08:05.4970000Z</dcterms:created>
  <dcterms:modified xsi:type="dcterms:W3CDTF">2026-07-05T02:08:05.4970000Z</dcterms:modified>
</coreProperties>
</file>